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247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50" b="1">
                <a:solidFill>
                  <a:srgbClr val="2D2D2D"/>
                </a:solidFill>
                <a:latin typeface="Arial"/>
              </a:rPr>
              <a:t>竞争定位：馥昶是商业星座增量中更纯粹的民营系统级龙头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66928"/>
            <a:ext cx="11384280" cy="12700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5F5F5F"/>
                </a:solidFill>
                <a:latin typeface="Arial"/>
              </a:rPr>
              <a:t>行业地位只看 fundamentals：业务纯度、系统能力、客户验证、在轨记录、商业星座收入映射和规模化交付能力；JPM切入窗口已单独放在机会页。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96112"/>
            <a:ext cx="1051560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1051560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公司/平台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896112"/>
            <a:ext cx="713232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896112"/>
            <a:ext cx="713232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业务
纯度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896112"/>
            <a:ext cx="713232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896112"/>
            <a:ext cx="713232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系统
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3784" y="896112"/>
            <a:ext cx="841248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896112"/>
            <a:ext cx="841248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客户验证
/ 商业化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5032" y="896112"/>
            <a:ext cx="749808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896112"/>
            <a:ext cx="749808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在轨
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896112"/>
            <a:ext cx="868680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896112"/>
            <a:ext cx="868680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商业星座
收入映射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896112"/>
            <a:ext cx="987552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896112"/>
            <a:ext cx="987552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规模化
交付能力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896112"/>
            <a:ext cx="3977639" cy="438912"/>
          </a:xfrm>
          <a:prstGeom prst="rect">
            <a:avLst/>
          </a:prstGeom>
          <a:solidFill>
            <a:srgbClr val="1E374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896112"/>
            <a:ext cx="3977639" cy="43891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rial"/>
              </a:rPr>
              <a:t>馥昶为何优先覆盖 / 有何不同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335024"/>
            <a:ext cx="105156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335024"/>
            <a:ext cx="105156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60" b="1">
                <a:solidFill>
                  <a:srgbClr val="2D2D2D"/>
                </a:solidFill>
                <a:latin typeface="Arial"/>
              </a:rPr>
              <a:t>电科蓝天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1335024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1335024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0552" y="1335024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0552" y="1335024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3784" y="1335024"/>
            <a:ext cx="84124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43784" y="1335024"/>
            <a:ext cx="84124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85032" y="1335024"/>
            <a:ext cx="74980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1335024"/>
            <a:ext cx="74980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1335024"/>
            <a:ext cx="86868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1335024"/>
            <a:ext cx="86868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1335024"/>
            <a:ext cx="98755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1335024"/>
            <a:ext cx="98755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1335024"/>
            <a:ext cx="3977639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1353312"/>
            <a:ext cx="3867911" cy="676656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l"/>
            <a:r>
              <a:rPr sz="910" b="0">
                <a:solidFill>
                  <a:srgbClr val="2D2D2D"/>
                </a:solidFill>
                <a:latin typeface="Arial"/>
              </a:rPr>
              <a:t>国内宇航电源总体标杆；2024年宇航电源收入约19亿元、整体毛利率约32%，规模、技术与体系资源最强；但传统航天、商业航天及其他业务并存，商业星座收入对整体业绩映射弱于馥昶。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048256"/>
            <a:ext cx="105156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048256"/>
            <a:ext cx="105156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60" b="1">
                <a:solidFill>
                  <a:srgbClr val="2D2D2D"/>
                </a:solidFill>
                <a:latin typeface="Arial"/>
              </a:rPr>
              <a:t>银河航天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7320" y="2048256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" y="2048256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0552" y="2048256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30552" y="2048256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43784" y="2048256"/>
            <a:ext cx="84124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43784" y="2048256"/>
            <a:ext cx="84124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●○○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85032" y="2048256"/>
            <a:ext cx="74980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85032" y="2048256"/>
            <a:ext cx="74980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2048256"/>
            <a:ext cx="86868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2048256"/>
            <a:ext cx="86868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2048256"/>
            <a:ext cx="98755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2048256"/>
            <a:ext cx="98755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2048256"/>
            <a:ext cx="3977639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2066544"/>
            <a:ext cx="3867911" cy="676656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l"/>
            <a:r>
              <a:rPr sz="910" b="0">
                <a:solidFill>
                  <a:srgbClr val="2D2D2D"/>
                </a:solidFill>
                <a:latin typeface="Arial"/>
              </a:rPr>
              <a:t>整星/星座平台属性更强；具备太阳翼及批产基础，但空间能源主要服务自有卫星平台，独立系统供应商叙事较弱。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761488"/>
            <a:ext cx="105156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761488"/>
            <a:ext cx="105156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60" b="1">
                <a:solidFill>
                  <a:srgbClr val="2D2D2D"/>
                </a:solidFill>
                <a:latin typeface="Arial"/>
              </a:rPr>
              <a:t>乾照光电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17320" y="2761488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17320" y="2761488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30552" y="2761488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30552" y="2761488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●○○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43784" y="2761488"/>
            <a:ext cx="84124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43784" y="2761488"/>
            <a:ext cx="84124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85032" y="2761488"/>
            <a:ext cx="74980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85032" y="2761488"/>
            <a:ext cx="74980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34840" y="2761488"/>
            <a:ext cx="86868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2761488"/>
            <a:ext cx="86868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2761488"/>
            <a:ext cx="98755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0" y="2761488"/>
            <a:ext cx="98755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91072" y="2761488"/>
            <a:ext cx="3977639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45936" y="2779776"/>
            <a:ext cx="3867911" cy="676656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l"/>
            <a:r>
              <a:rPr sz="910" b="0">
                <a:solidFill>
                  <a:srgbClr val="2D2D2D"/>
                </a:solidFill>
                <a:latin typeface="Arial"/>
              </a:rPr>
              <a:t>上游电池龙头；空间电池能力与产能基础较强，但价值获取集中于电池单体，难以完整承接太阳翼、储能与控制的系统价值量。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3474720"/>
            <a:ext cx="105156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3474720"/>
            <a:ext cx="105156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60" b="1">
                <a:solidFill>
                  <a:srgbClr val="2D2D2D"/>
                </a:solidFill>
                <a:latin typeface="Arial"/>
              </a:rPr>
              <a:t>上海港湾
（伏曦炘空）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17320" y="3474720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3474720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30552" y="3474720"/>
            <a:ext cx="71323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30552" y="3474720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43784" y="3474720"/>
            <a:ext cx="84124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43784" y="3474720"/>
            <a:ext cx="84124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●○○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85032" y="3474720"/>
            <a:ext cx="74980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85032" y="3474720"/>
            <a:ext cx="74980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34840" y="3474720"/>
            <a:ext cx="868680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34840" y="3474720"/>
            <a:ext cx="86868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●●○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0" y="3474720"/>
            <a:ext cx="987552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03520" y="3474720"/>
            <a:ext cx="98755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374D"/>
                </a:solidFill>
                <a:latin typeface="Arial"/>
              </a:rPr>
              <a:t>●○○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91072" y="3474720"/>
            <a:ext cx="3977639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45936" y="3493008"/>
            <a:ext cx="3867911" cy="676656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l"/>
            <a:r>
              <a:rPr sz="910" b="0">
                <a:solidFill>
                  <a:srgbClr val="2D2D2D"/>
                </a:solidFill>
                <a:latin typeface="Arial"/>
              </a:rPr>
              <a:t>空间能源布局已启动；方向对、协同好，但外部客户、在轨记录和规模化交付仍在爬坡，独立融资与估值叙事尚早。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4187952"/>
            <a:ext cx="1051560" cy="713232"/>
          </a:xfrm>
          <a:prstGeom prst="rect">
            <a:avLst/>
          </a:prstGeom>
          <a:solidFill>
            <a:srgbClr val="A11F3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4187952"/>
            <a:ext cx="105156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Arial"/>
              </a:rPr>
              <a:t>馥昶空间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417320" y="4187952"/>
            <a:ext cx="713232" cy="713232"/>
          </a:xfrm>
          <a:prstGeom prst="rect">
            <a:avLst/>
          </a:prstGeom>
          <a:solidFill>
            <a:srgbClr val="F5E9EC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17320" y="4187952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A11F30"/>
                </a:solidFill>
                <a:latin typeface="Arial"/>
              </a:rPr>
              <a:t>●●●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30552" y="4187952"/>
            <a:ext cx="713232" cy="713232"/>
          </a:xfrm>
          <a:prstGeom prst="rect">
            <a:avLst/>
          </a:prstGeom>
          <a:solidFill>
            <a:srgbClr val="F5E9EC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30552" y="4187952"/>
            <a:ext cx="71323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A11F30"/>
                </a:solidFill>
                <a:latin typeface="Arial"/>
              </a:rPr>
              <a:t>●●●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43784" y="4187952"/>
            <a:ext cx="841248" cy="713232"/>
          </a:xfrm>
          <a:prstGeom prst="rect">
            <a:avLst/>
          </a:prstGeom>
          <a:solidFill>
            <a:srgbClr val="F5E9EC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43784" y="4187952"/>
            <a:ext cx="84124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A11F30"/>
                </a:solidFill>
                <a:latin typeface="Arial"/>
              </a:rPr>
              <a:t>●●●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85032" y="4187952"/>
            <a:ext cx="749808" cy="713232"/>
          </a:xfrm>
          <a:prstGeom prst="rect">
            <a:avLst/>
          </a:prstGeom>
          <a:solidFill>
            <a:srgbClr val="F5E9EC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85032" y="4187952"/>
            <a:ext cx="749808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A11F30"/>
                </a:solidFill>
                <a:latin typeface="Arial"/>
              </a:rPr>
              <a:t>●●●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34840" y="4187952"/>
            <a:ext cx="868680" cy="713232"/>
          </a:xfrm>
          <a:prstGeom prst="rect">
            <a:avLst/>
          </a:prstGeom>
          <a:solidFill>
            <a:srgbClr val="F5E9EC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34840" y="4187952"/>
            <a:ext cx="868680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A11F30"/>
                </a:solidFill>
                <a:latin typeface="Arial"/>
              </a:rPr>
              <a:t>●●●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03520" y="4187952"/>
            <a:ext cx="987552" cy="713232"/>
          </a:xfrm>
          <a:prstGeom prst="rect">
            <a:avLst/>
          </a:prstGeom>
          <a:solidFill>
            <a:srgbClr val="F5E9EC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03520" y="4187952"/>
            <a:ext cx="987552" cy="713232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A11F30"/>
                </a:solidFill>
                <a:latin typeface="Arial"/>
              </a:rPr>
              <a:t>●●●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91072" y="4187952"/>
            <a:ext cx="3977639" cy="713232"/>
          </a:xfrm>
          <a:prstGeom prst="rect">
            <a:avLst/>
          </a:prstGeom>
          <a:solidFill>
            <a:srgbClr val="F5E9EC"/>
          </a:solidFill>
          <a:ln w="1016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45936" y="4206240"/>
            <a:ext cx="3867911" cy="676656"/>
          </a:xfrm>
          <a:prstGeom prst="rect">
            <a:avLst/>
          </a:prstGeom>
          <a:noFill/>
        </p:spPr>
        <p:txBody>
          <a:bodyPr wrap="square" anchor="ctr" lIns="36576" rIns="27432" tIns="9144" bIns="9144">
            <a:spAutoFit/>
          </a:bodyPr>
          <a:lstStyle/>
          <a:p>
            <a:pPr algn="l"/>
            <a:r>
              <a:rPr sz="910" b="0">
                <a:solidFill>
                  <a:srgbClr val="2D2D2D"/>
                </a:solidFill>
                <a:latin typeface="Arial"/>
              </a:rPr>
              <a:t>民营系统级龙头：pure-play 聚焦卫星电源系统，覆盖太阳翼、展开驱动、储能与控制；60+客户、360+配套、260+在轨，商业星座增量对收入与估值映射最直接。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5065776"/>
            <a:ext cx="11384280" cy="566928"/>
          </a:xfrm>
          <a:prstGeom prst="rect">
            <a:avLst/>
          </a:prstGeom>
          <a:solidFill>
            <a:srgbClr val="E3EEEC"/>
          </a:solidFill>
          <a:ln w="10160">
            <a:solidFill>
              <a:srgbClr val="ADB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12064" y="51389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40" b="1">
                <a:solidFill>
                  <a:srgbClr val="1E374D"/>
                </a:solidFill>
                <a:latin typeface="Arial"/>
              </a:rPr>
              <a:t>结论：电科蓝天是总体行业标杆，馥昶不是以规模取胜；馥昶的核心优势在于“独立民营 + 系统级 + pure-play + 已验证交付”，更直接对应商业星座放量带来的增量机会。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" y="6537960"/>
            <a:ext cx="41148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1">
                <a:solidFill>
                  <a:srgbClr val="5F5F5F"/>
                </a:solidFill>
                <a:latin typeface="Arial"/>
              </a:rPr>
              <a:t>J.P. MORGAN  Natural Resources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46920" y="6537960"/>
            <a:ext cx="16459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F5F5F"/>
                </a:solidFill>
                <a:latin typeface="Arial"/>
              </a:rPr>
              <a:t>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