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366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8384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【约35秒】</a:t>
            </a:r>
            <a:endParaRPr lang="en-US" dirty="0"/>
          </a:p>
          <a:p>
            <a:r>
              <a:t>大家好。任何一颗卫星想在轨工作，第一件事其实不是通信，也不是计算，而是电从哪里来。</a:t>
            </a:r>
          </a:p>
          <a:p>
            <a:endParaRPr/>
          </a:p>
          <a:p>
            <a:r>
              <a:t>我今天选择的sub-vertical是太空光伏与卫星电源系统，潜在客户是馥昶空间。我的核心判断很简单：未来卫星会更多、功率会更高，而每颗卫星所需要的能源系统也会更复杂。</a:t>
            </a:r>
          </a:p>
          <a:p>
            <a:endParaRPr/>
          </a:p>
          <a:p>
            <a:r>
              <a:t>馥昶空间不是只卖一块电池片，而是覆盖太阳翼、储能和电源控制的系统级供应商，因此行业增长可以比较直接地映射到它的订单和融资需求。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【约50秒】</a:t>
            </a:r>
            <a:endParaRPr lang="en-US" dirty="0"/>
          </a:p>
          <a:p>
            <a:r>
              <a:t>先讲行业为什么值得看。</a:t>
            </a:r>
          </a:p>
          <a:p>
            <a:endParaRPr/>
          </a:p>
          <a:p>
            <a:r>
              <a:t>空间电源需求可以拆成三个变量。第一个是卫星数量。低轨通信、遥感和导航星座都在持续组网。第二个是单星功率。相控阵通信、手机直连和星上计算，会让每颗卫星消耗更多电。第三个是系统价值量。过去大家可能只关注太阳电池片，但真正交付给卫星的是一整套发电、展开、储能和控制系统。</a:t>
            </a:r>
          </a:p>
          <a:p>
            <a:endParaRPr/>
          </a:p>
          <a:p>
            <a:r>
              <a:t>所以这个行业的增长不是单一因素驱动，而是“更多卫星、每颗更耗电、每套系统更复杂”同时发生。太空算力是远期弹性，近期更真实的需求仍然来自商业卫星主电源。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【约65秒】</a:t>
            </a:r>
            <a:endParaRPr lang="en-US" dirty="0"/>
          </a:p>
          <a:p>
            <a:r>
              <a:t>市场空间这页，我建议分两层理解。</a:t>
            </a:r>
          </a:p>
          <a:p>
            <a:endParaRPr/>
          </a:p>
          <a:p>
            <a:r>
              <a:t>第一层是比较扎实的底盘。电科蓝天在IPO审核问询回复里，用千帆和国网两个已知主力星座做了自下而上测算：仅卫星电源分系统，到2030年和2035年就分别对应大约246亿元和378亿元市场。这个口径比较窄，但它来自已知星座部署计划，也最接近馥昶实际参与的赛道。</a:t>
            </a:r>
          </a:p>
          <a:p>
            <a:endParaRPr/>
          </a:p>
          <a:p>
            <a:r>
              <a:t>第二层是右边更广义的行业情景。这里把太阳电池技术渗透、单星功率升级以及太空算力都放进来，所以数字会明显更大。</a:t>
            </a:r>
          </a:p>
          <a:p>
            <a:endParaRPr/>
          </a:p>
          <a:p>
            <a:r>
              <a:t>我的结论不是简单地说2035年一定有一万亿，而是：商业星座已经提供了百亿元级的可见市场，而太空算力决定这个行业能否进一步出现非线性增长。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【约50秒】</a:t>
            </a:r>
            <a:endParaRPr lang="en-US" dirty="0"/>
          </a:p>
          <a:p>
            <a:r>
              <a:t>再看产业链。太空光伏并不等于单纯的太阳电池。</a:t>
            </a:r>
          </a:p>
          <a:p>
            <a:endParaRPr/>
          </a:p>
          <a:p>
            <a:r>
              <a:t>上游是砷化镓外延、TCO玻璃、柔性封装材料和相关设备；中间先制成空间太阳电池，再集成为太阳翼和展开机构；同时还需要锂电池储能、电源控制和配电。最后，这些产品共同组成一套完整的卫星能源系统。</a:t>
            </a:r>
          </a:p>
          <a:p>
            <a:endParaRPr/>
          </a:p>
          <a:p>
            <a:r>
              <a:t>从商业价值看，越往系统端走，客户认证更深、单星价值量更高、替换成本也更大。馥昶空间的定位就在这里：它不是只参与一个零部件，而是把发电、储能和控制一起交付给卫星客户。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【约50秒】</a:t>
            </a:r>
            <a:endParaRPr lang="en-US" dirty="0"/>
          </a:p>
          <a:p>
            <a:r>
              <a:t>技术路线方面，这不是一个赢家通吃的市场。</a:t>
            </a:r>
          </a:p>
          <a:p>
            <a:endParaRPr/>
          </a:p>
          <a:p>
            <a:r>
              <a:t>三结砷化镓效率高、抗辐照、寿命可靠，因此高价值、长寿命任务仍然会优先采用。HJT和其他晶硅方案的优势是成本更低，也更容易做薄和做柔性，因此更适合批量低轨星座和未来太空算力。钙钛矿和叠层电池则更轻、比功率潜力更高，但目前更偏远期。</a:t>
            </a:r>
          </a:p>
          <a:p>
            <a:endParaRPr/>
          </a:p>
          <a:p>
            <a:r>
              <a:t>所以行业的发展并不是旧技术立刻被替代，而是不同任务根据可靠性、成本和重量选择不同方案。对系统供应商来说，真正重要的是能够兼容不同电池路线，并把它们做成可靠的整星电源。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【约40秒】</a:t>
            </a:r>
            <a:endParaRPr lang="en-US" dirty="0"/>
          </a:p>
          <a:p>
            <a:r>
              <a:t>竞争格局可以分成几类。海外有Spectrolab、SolAero和Redwire等成熟公司；国内传统市场仍主要由航天院所和电科蓝天等平台占据。与此同时，上游光伏企业、卫星厂自研团队，以及独立民营系统供应商都在进入。</a:t>
            </a:r>
          </a:p>
          <a:p>
            <a:endParaRPr/>
          </a:p>
          <a:p>
            <a:r>
              <a:t>商业星座和传统航天最大的区别，是更强调成本、标准化和快速交付。这给民营供应商创造了新的窗口，但也意味着价格压力会更大。下一页我会进一步解释，为什么在这些候选公司中最终选择馥昶空间。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【约50秒】</a:t>
            </a:r>
          </a:p>
          <a:p>
            <a:r>
              <a:t>我用五个维度筛选目标客户：行业纯度、系统能力、外部客户、在轨验证和资本窗口。</a:t>
            </a:r>
          </a:p>
          <a:p>
            <a:endParaRPr/>
          </a:p>
          <a:p>
            <a:r>
              <a:t>电科蓝天规模最大，但已经上市，集团背景也会增加跨境执行复杂度。银河航天具备太阳翼能力，但更多是内部配套。乾照光电属于上游电池供应商，太空业务不是集团核心。上海港湾已经有空间能源布局，但母公司主业与这块业务差异较大。</a:t>
            </a:r>
          </a:p>
          <a:p>
            <a:endParaRPr/>
          </a:p>
          <a:p>
            <a:r>
              <a:t>馥昶空间的优势不是每一项都绝对第一，而是五项都比较完整：主营就是卫星电源系统、产品覆盖系统级、已经有外部客户和在轨记录，同时仍处在private company阶段，资本市场关系尚未锁定。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【约60秒】</a:t>
            </a:r>
            <a:endParaRPr lang="en-US" dirty="0"/>
          </a:p>
          <a:p>
            <a:r>
              <a:t>具体看馥昶空间，公司已经服务60多家国内外卫星总体单位，累计配套超过360颗卫星，参与80多次发射任务，并有260多颗配套卫星实现了在轨飞行。</a:t>
            </a:r>
          </a:p>
          <a:p>
            <a:endParaRPr/>
          </a:p>
          <a:p>
            <a:r>
              <a:t>产品矩阵也比较完整，从三结砷化镓太阳电池、太阳电池阵，到ROSA柔性太阳翼、展开机构、锂电池组和电源控制器，最终可以交付整星电源系统。</a:t>
            </a:r>
          </a:p>
          <a:p>
            <a:endParaRPr/>
          </a:p>
          <a:p>
            <a:r>
              <a:t>更重要的是，电科蓝天在IPO审核材料中也把馥昶列为国内主要宇航电源供应商之一，这提供了第三方验证。公司在2026年完成B+轮融资；页面上的2.52亿美元是PitchBook模型估值参考，不是最新一轮交易定价。</a:t>
            </a:r>
          </a:p>
          <a:p>
            <a:endParaRPr/>
          </a:p>
          <a:p>
            <a:r>
              <a:t>因此，公司已经跨过了产品和在轨验证阶段，下一步要证明的是大型星座订单、backlog和可重复盈利。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【约65秒】</a:t>
            </a:r>
            <a:endParaRPr lang="en-US" dirty="0"/>
          </a:p>
          <a:p>
            <a:r>
              <a:t>Public comps这页需要区分传统航天和商业航天的经济模型。</a:t>
            </a:r>
          </a:p>
          <a:p>
            <a:endParaRPr/>
          </a:p>
          <a:p>
            <a:r>
              <a:t>电科蓝天2024年宇航电源收入约19亿元，整体毛利率约32%，说明成熟系统级平台可以形成十亿元级收入和较高毛利率。但这32%不能直接套到馥昶，因为其中包含传统国家航天任务。电科蓝天披露，其商业航天电源业务前期一直承受价格和成本压力，到2024年才接近盈亏平衡。</a:t>
            </a:r>
          </a:p>
          <a:p>
            <a:endParaRPr/>
          </a:p>
          <a:p>
            <a:r>
              <a:t>这说明商业星座的机会很大，但不代表订单增加就自然带来高利润。真正的关键是标准化、自动化、采购降本和规模效应。Rocket Lab证明多产品平台可以做大收入；Redwire则提醒我们，固定价格合同和项目执行风险可能快速侵蚀利润。</a:t>
            </a:r>
          </a:p>
          <a:p>
            <a:endParaRPr/>
          </a:p>
          <a:p>
            <a:r>
              <a:t>所以未来看馥昶，最重要的指标是backlog、系统ASP、毛利率、现金流和客户集中度，而不只是配套了多少颗卫星。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【约60秒】</a:t>
            </a:r>
            <a:endParaRPr lang="en-US" dirty="0"/>
          </a:p>
          <a:p>
            <a:r>
              <a:t>最后是JPM机会。馥昶目前还不是一个近期IPO-ready客户，所以近期最现实的产品不是直接推上市，而是建立关系和参与下一轮战略融资。</a:t>
            </a:r>
          </a:p>
          <a:p>
            <a:endParaRPr/>
          </a:p>
          <a:p>
            <a:r>
              <a:t>在未来一到两年，JPM可以帮助公司接触产业资本、主权资金和潜在国际战略投资人，同时支持治理、财务和资本市场故事准备。</a:t>
            </a:r>
          </a:p>
          <a:p>
            <a:endParaRPr/>
          </a:p>
          <a:p>
            <a:r>
              <a:t>如果未来两到四年公司获得大型星座批量订单，形成稳定backlog和连续审计财务记录，就可以逐步进入IPO readiness阶段。更长期，香港IPO可以帮助公司接触全球航天和科技投资者，也为海外客户、跨境合作和并购提供平台。</a:t>
            </a:r>
          </a:p>
          <a:p>
            <a:endParaRPr/>
          </a:p>
          <a:p>
            <a:r>
              <a:t>总结来说，太空光伏的真实底盘来自商业卫星，远期弹性来自太空算力；馥昶已经完成产品和在轨验证，而资本市场关系仍在形成。这正是JPM低成本提前建立长期客户关系的窗口。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" cy="6473952"/>
          </a:xfrm>
          <a:prstGeom prst="rect">
            <a:avLst/>
          </a:prstGeom>
          <a:solidFill>
            <a:srgbClr val="2D4453"/>
          </a:solidFill>
          <a:ln w="12700">
            <a:solidFill>
              <a:srgbClr val="2D44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J.P. MORGAN NATURAL RESOURCES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0789920" cy="0"/>
          </a:xfrm>
          <a:prstGeom prst="line">
            <a:avLst/>
          </a:prstGeom>
          <a:noFill/>
          <a:ln w="16510">
            <a:solidFill>
              <a:srgbClr val="2D44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太空光伏与卫星电源系统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856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4453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万星组网与单星功率提升推动空间能源产业化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30352" y="2779776"/>
            <a:ext cx="5212080" cy="841248"/>
          </a:xfrm>
          <a:prstGeom prst="rect">
            <a:avLst/>
          </a:prstGeom>
          <a:solidFill>
            <a:srgbClr val="F5F7F8"/>
          </a:solidFill>
          <a:ln w="12700">
            <a:solidFill>
              <a:srgbClr val="BFCA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13232" y="29077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Prospective client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13232" y="31546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8C2633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馥昶空间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697480" y="31546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从下一轮战略融资到未来香港IPO的长期关系机会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0352" y="42062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核心逻辑：卫星数量 × 单星功率 × 系统价值量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30352" y="4709160"/>
            <a:ext cx="960120" cy="502920"/>
          </a:xfrm>
          <a:prstGeom prst="rect">
            <a:avLst/>
          </a:prstGeom>
          <a:solidFill>
            <a:srgbClr val="7F96A3"/>
          </a:solidFill>
          <a:ln w="12700">
            <a:solidFill>
              <a:srgbClr val="7F96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76072" y="478231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需求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517904" y="4709160"/>
            <a:ext cx="2578608" cy="502920"/>
          </a:xfrm>
          <a:prstGeom prst="rect">
            <a:avLst/>
          </a:prstGeom>
          <a:solidFill>
            <a:srgbClr val="7F96A3"/>
          </a:solidFill>
          <a:ln w="12700">
            <a:solidFill>
              <a:srgbClr val="7F96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655064" y="4809744"/>
            <a:ext cx="22951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FFFFFF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低轨星座和太空算力推动装机功率提升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4434840" y="4709160"/>
            <a:ext cx="960120" cy="502920"/>
          </a:xfrm>
          <a:prstGeom prst="rect">
            <a:avLst/>
          </a:prstGeom>
          <a:solidFill>
            <a:srgbClr val="6B9C95"/>
          </a:solidFill>
          <a:ln w="12700">
            <a:solidFill>
              <a:srgbClr val="6B9C9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480560" y="478231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供给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22392" y="4709160"/>
            <a:ext cx="2578608" cy="502920"/>
          </a:xfrm>
          <a:prstGeom prst="rect">
            <a:avLst/>
          </a:prstGeom>
          <a:solidFill>
            <a:srgbClr val="6B9C95"/>
          </a:solidFill>
          <a:ln w="12700">
            <a:solidFill>
              <a:srgbClr val="6B9C9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559552" y="4809744"/>
            <a:ext cx="22951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FFFFFF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价值池从电池片延伸至完整电源系统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8339328" y="4709160"/>
            <a:ext cx="960120" cy="502920"/>
          </a:xfrm>
          <a:prstGeom prst="rect">
            <a:avLst/>
          </a:prstGeom>
          <a:solidFill>
            <a:srgbClr val="8C2633"/>
          </a:solidFill>
          <a:ln w="12700">
            <a:solidFill>
              <a:srgbClr val="8C26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385048" y="478231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机会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326880" y="4709160"/>
            <a:ext cx="2350008" cy="502920"/>
          </a:xfrm>
          <a:prstGeom prst="rect">
            <a:avLst/>
          </a:prstGeom>
          <a:solidFill>
            <a:srgbClr val="8C2633"/>
          </a:solidFill>
          <a:ln w="12700">
            <a:solidFill>
              <a:srgbClr val="8C26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464040" y="4809744"/>
            <a:ext cx="20665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FFFFFF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民营系统级供应商具备融资切入窗口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411480" y="6181344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27A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资料来源：公开资料，公司官网，行业研报。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0" y="6483096"/>
            <a:ext cx="12191695" cy="374904"/>
          </a:xfrm>
          <a:prstGeom prst="rect">
            <a:avLst/>
          </a:prstGeom>
          <a:solidFill>
            <a:srgbClr val="2D4453"/>
          </a:solidFill>
          <a:ln w="12700">
            <a:solidFill>
              <a:srgbClr val="2D44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347472" y="65745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J.P. MORGAN  Natural Resources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8732520" y="6574536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292840" y="657453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FFFFFF"/>
                </a:solidFill>
                <a:latin typeface="Arial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核心判断：真实市场与远期弹性并存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84280" cy="0"/>
          </a:xfrm>
          <a:prstGeom prst="line">
            <a:avLst/>
          </a:prstGeom>
          <a:noFill/>
          <a:ln w="15240">
            <a:solidFill>
              <a:srgbClr val="2D44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11384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4727A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太空光伏并非从零产生的新概念，而是成熟宇航电源市场在卫星批量化和功率提升下的升级。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548640" y="1069848"/>
            <a:ext cx="11064240" cy="804672"/>
          </a:xfrm>
          <a:prstGeom prst="rect">
            <a:avLst/>
          </a:prstGeom>
          <a:solidFill>
            <a:srgbClr val="F5F7F8"/>
          </a:solidFill>
          <a:ln w="12700">
            <a:solidFill>
              <a:srgbClr val="BFCA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77240" y="1280160"/>
            <a:ext cx="14630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4453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空间电源需求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395728" y="1280160"/>
            <a:ext cx="2286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63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816352" y="1280160"/>
            <a:ext cx="16002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F96A3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卫星部署数量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53712" y="1280160"/>
            <a:ext cx="2286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63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983480" y="1280160"/>
            <a:ext cx="10972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B9C95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单星功率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63640" y="1280160"/>
            <a:ext cx="2286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63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720840" y="1280160"/>
            <a:ext cx="16002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C2633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系统单位价值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58200" y="1307592"/>
            <a:ext cx="26517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27A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（发电 + 展开 + 储能 + 控制）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2240280"/>
            <a:ext cx="2286000" cy="292608"/>
          </a:xfrm>
          <a:prstGeom prst="rect">
            <a:avLst/>
          </a:prstGeom>
          <a:solidFill>
            <a:srgbClr val="7F96A3"/>
          </a:solidFill>
          <a:ln w="12700">
            <a:solidFill>
              <a:srgbClr val="7F96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0080" y="229514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量的增长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749040" y="2240280"/>
            <a:ext cx="2286000" cy="292608"/>
          </a:xfrm>
          <a:prstGeom prst="rect">
            <a:avLst/>
          </a:prstGeom>
          <a:solidFill>
            <a:srgbClr val="6B9C95"/>
          </a:solidFill>
          <a:ln w="12700">
            <a:solidFill>
              <a:srgbClr val="6B9C9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3822192" y="229514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功率升级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931152" y="2240280"/>
            <a:ext cx="2286000" cy="292608"/>
          </a:xfrm>
          <a:prstGeom prst="rect">
            <a:avLst/>
          </a:prstGeom>
          <a:solidFill>
            <a:srgbClr val="8C2633"/>
          </a:solidFill>
          <a:ln w="12700">
            <a:solidFill>
              <a:srgbClr val="8C26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004304" y="229514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价值量扩张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058400" y="2240280"/>
            <a:ext cx="1417320" cy="292608"/>
          </a:xfrm>
          <a:prstGeom prst="rect">
            <a:avLst/>
          </a:prstGeom>
          <a:solidFill>
            <a:srgbClr val="2D4453"/>
          </a:solidFill>
          <a:ln w="12700">
            <a:solidFill>
              <a:srgbClr val="2D44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0131552" y="2295144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结果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8368" y="2697480"/>
            <a:ext cx="205740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• 低轨通信、遥感、导航星座持续组网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• 商业卫星发射量进入快速增长阶段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• 太空算力提供中长期非线性增量</a:t>
            </a:r>
            <a:endParaRPr lang="en-US" sz="940" dirty="0"/>
          </a:p>
        </p:txBody>
      </p:sp>
      <p:sp>
        <p:nvSpPr>
          <p:cNvPr id="23" name="Text 21"/>
          <p:cNvSpPr/>
          <p:nvPr/>
        </p:nvSpPr>
        <p:spPr>
          <a:xfrm>
            <a:off x="3840480" y="2697480"/>
            <a:ext cx="2084832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• 相控阵通信、手机直连、星上计算提升用电负载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• 单星功率由kW级向数十kW乃至更高水平提升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• 高功率平台要求更大面积、更高可靠性电源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7022592" y="2697480"/>
            <a:ext cx="205740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• 空间太阳电池从单片走向组件/太阳翼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• 储能与电源控制成为系统稳定性的核心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• 完整系统供应商可获取更高单星价值量</a:t>
            </a:r>
            <a:endParaRPr lang="en-US" sz="940" dirty="0"/>
          </a:p>
        </p:txBody>
      </p:sp>
      <p:sp>
        <p:nvSpPr>
          <p:cNvPr id="25" name="Text 23"/>
          <p:cNvSpPr/>
          <p:nvPr/>
        </p:nvSpPr>
        <p:spPr>
          <a:xfrm>
            <a:off x="10104120" y="2697480"/>
            <a:ext cx="137160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• 太空光伏由小规模特种市场走向空间能源基础设施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• 系统级供应商在批量星座中获得增量订单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548640" y="4800600"/>
            <a:ext cx="11064240" cy="685800"/>
          </a:xfrm>
          <a:prstGeom prst="rect">
            <a:avLst/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749808" y="5001768"/>
            <a:ext cx="1056132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2D4453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投资含义：近期真实需求来自通信/遥感/导航卫星主电源，中长期弹性来自太空算力、月面设施和大型在轨平台；馥昶空间的切入点是完整卫星电源系统，而非单一电池片。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411480" y="6181344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27A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资料来源：SIA/BryceTech，NASA Small Spacecraft Technology，正点财经整理。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0" y="6483096"/>
            <a:ext cx="12191695" cy="374904"/>
          </a:xfrm>
          <a:prstGeom prst="rect">
            <a:avLst/>
          </a:prstGeom>
          <a:solidFill>
            <a:srgbClr val="2D4453"/>
          </a:solidFill>
          <a:ln w="12700">
            <a:solidFill>
              <a:srgbClr val="2D44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347472" y="65745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J.P. MORGAN  Natural Resources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8732520" y="6574536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292840" y="657453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FFFFFF"/>
                </a:solidFill>
                <a:latin typeface="Arial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400" b="1">
                <a:latin typeface="LF_Kai"/>
              </a:rPr>
              <a:t>市场空间：两大主力星座提供可见底盘，太空算力打开远期弹性</a:t>
            </a:r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84280" cy="0"/>
          </a:xfrm>
          <a:prstGeom prst="line">
            <a:avLst/>
          </a:prstGeom>
          <a:noFill/>
          <a:ln w="15240">
            <a:solidFill>
              <a:srgbClr val="2D44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11384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0">
                <a:latin typeface="LF_Kai"/>
              </a:rPr>
              <a:t>监管文件测算，仅千帆与国网两大星座的卫星电源分系统市场到2030E/2035E约246/378亿元；更广义预测则包含技术渗透与太空算力假设。</a:t>
            </a:r>
          </a:p>
        </p:txBody>
      </p:sp>
      <p:sp>
        <p:nvSpPr>
          <p:cNvPr id="5" name="Shape 3"/>
          <p:cNvSpPr/>
          <p:nvPr/>
        </p:nvSpPr>
        <p:spPr>
          <a:xfrm>
            <a:off x="1024128" y="5029200"/>
            <a:ext cx="4251960" cy="0"/>
          </a:xfrm>
          <a:prstGeom prst="line">
            <a:avLst/>
          </a:prstGeom>
          <a:noFill/>
          <a:ln w="10160">
            <a:solidFill>
              <a:srgbClr val="2634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24128" y="1737360"/>
            <a:ext cx="0" cy="3291840"/>
          </a:xfrm>
          <a:prstGeom prst="line">
            <a:avLst/>
          </a:prstGeom>
          <a:noFill/>
          <a:ln w="7620">
            <a:solidFill>
              <a:srgbClr val="BFCA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572768" y="4898275"/>
            <a:ext cx="594360" cy="130925"/>
          </a:xfrm>
          <a:prstGeom prst="rect">
            <a:avLst/>
          </a:prstGeom>
          <a:solidFill>
            <a:srgbClr val="7F96A3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572768" y="4858997"/>
            <a:ext cx="594360" cy="39278"/>
          </a:xfrm>
          <a:prstGeom prst="rect">
            <a:avLst/>
          </a:prstGeom>
          <a:solidFill>
            <a:srgbClr val="9BBDB7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344168" y="4602965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3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35608" y="513892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3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90088" y="4466295"/>
            <a:ext cx="594360" cy="562905"/>
          </a:xfrm>
          <a:prstGeom prst="rect">
            <a:avLst/>
          </a:prstGeom>
          <a:solidFill>
            <a:srgbClr val="7F96A3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2990088" y="4162327"/>
            <a:ext cx="594360" cy="303969"/>
          </a:xfrm>
          <a:prstGeom prst="rect">
            <a:avLst/>
          </a:prstGeom>
          <a:solidFill>
            <a:srgbClr val="9BBDB7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2990088" y="4017848"/>
            <a:ext cx="594360" cy="144479"/>
          </a:xfrm>
          <a:prstGeom prst="rect">
            <a:avLst/>
          </a:prstGeom>
          <a:solidFill>
            <a:srgbClr val="B39B63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761488" y="376181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3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3,380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52928" y="513892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3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07408" y="4205043"/>
            <a:ext cx="594360" cy="824157"/>
          </a:xfrm>
          <a:prstGeom prst="rect">
            <a:avLst/>
          </a:prstGeom>
          <a:solidFill>
            <a:srgbClr val="7F96A3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407408" y="2523763"/>
            <a:ext cx="594360" cy="1681280"/>
          </a:xfrm>
          <a:prstGeom prst="rect">
            <a:avLst/>
          </a:prstGeom>
          <a:solidFill>
            <a:srgbClr val="9BBDB7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407408" y="1738066"/>
            <a:ext cx="594360" cy="785696"/>
          </a:xfrm>
          <a:prstGeom prst="rect">
            <a:avLst/>
          </a:prstGeom>
          <a:solidFill>
            <a:srgbClr val="B39B63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178808" y="148203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3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10,998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70248" y="513892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3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2035E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78408" y="1078992"/>
            <a:ext cx="43891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sz="1100" b="1">
                <a:latin typeface="LF_Kai"/>
              </a:rPr>
              <a:t>更广义太空光伏情景测算（亿元人民币）</a:t>
            </a:r>
          </a:p>
        </p:txBody>
      </p:sp>
      <p:sp>
        <p:nvSpPr>
          <p:cNvPr id="22" name="Shape 20"/>
          <p:cNvSpPr/>
          <p:nvPr/>
        </p:nvSpPr>
        <p:spPr>
          <a:xfrm>
            <a:off x="1298448" y="5650992"/>
            <a:ext cx="146304" cy="109728"/>
          </a:xfrm>
          <a:prstGeom prst="rect">
            <a:avLst/>
          </a:prstGeom>
          <a:solidFill>
            <a:srgbClr val="7F96A3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335024" y="5687568"/>
            <a:ext cx="73152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1481328" y="5605272"/>
            <a:ext cx="7315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三结砷化镓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2350008" y="5650992"/>
            <a:ext cx="146304" cy="109728"/>
          </a:xfrm>
          <a:prstGeom prst="rect">
            <a:avLst/>
          </a:prstGeom>
          <a:solidFill>
            <a:srgbClr val="9BBDB7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2386584" y="5687568"/>
            <a:ext cx="73152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2532888" y="5605272"/>
            <a:ext cx="9144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P型HJT/晶硅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3630168" y="5650992"/>
            <a:ext cx="146304" cy="109728"/>
          </a:xfrm>
          <a:prstGeom prst="rect">
            <a:avLst/>
          </a:prstGeom>
          <a:solidFill>
            <a:srgbClr val="B39B63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3666744" y="5687568"/>
            <a:ext cx="73152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3813048" y="5605272"/>
            <a:ext cx="5486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钙钛矿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6446520" y="1097280"/>
            <a:ext cx="960120" cy="658368"/>
          </a:xfrm>
          <a:prstGeom prst="rect">
            <a:avLst/>
          </a:prstGeom>
          <a:solidFill>
            <a:srgbClr val="7F96A3"/>
          </a:solidFill>
          <a:ln w="12700">
            <a:solidFill>
              <a:srgbClr val="7F96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492240" y="1170432"/>
            <a:ext cx="868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数量增长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434072" y="1097280"/>
            <a:ext cx="4087368" cy="658368"/>
          </a:xfrm>
          <a:prstGeom prst="rect">
            <a:avLst/>
          </a:prstGeom>
          <a:solidFill>
            <a:srgbClr val="7F96A3"/>
          </a:solidFill>
          <a:ln w="12700">
            <a:solidFill>
              <a:srgbClr val="7F96A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7571232" y="1197864"/>
            <a:ext cx="380390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FFFFFF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低轨通信卫星年发射量由2026E约7,000颗提升至2035E约30,000颗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6446520" y="1993392"/>
            <a:ext cx="960120" cy="658368"/>
          </a:xfrm>
          <a:prstGeom prst="rect">
            <a:avLst/>
          </a:prstGeom>
          <a:solidFill>
            <a:srgbClr val="6B9C95"/>
          </a:solidFill>
          <a:ln w="12700">
            <a:solidFill>
              <a:srgbClr val="6B9C9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492240" y="2066544"/>
            <a:ext cx="868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算力增量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434072" y="1993392"/>
            <a:ext cx="4087368" cy="658368"/>
          </a:xfrm>
          <a:prstGeom prst="rect">
            <a:avLst/>
          </a:prstGeom>
          <a:solidFill>
            <a:srgbClr val="6B9C95"/>
          </a:solidFill>
          <a:ln w="12700">
            <a:solidFill>
              <a:srgbClr val="6B9C9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7571232" y="2093976"/>
            <a:ext cx="380390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FFFFFF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2030E起太空算力卫星进入规模化部署，单星功率可达百kW级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6446520" y="2889504"/>
            <a:ext cx="960120" cy="658368"/>
          </a:xfrm>
          <a:prstGeom prst="rect">
            <a:avLst/>
          </a:prstGeom>
          <a:solidFill>
            <a:srgbClr val="8C2633"/>
          </a:solidFill>
          <a:ln w="12700">
            <a:solidFill>
              <a:srgbClr val="8C26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6492240" y="2962656"/>
            <a:ext cx="868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功率升级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434072" y="2889504"/>
            <a:ext cx="4087368" cy="658368"/>
          </a:xfrm>
          <a:prstGeom prst="rect">
            <a:avLst/>
          </a:prstGeom>
          <a:solidFill>
            <a:srgbClr val="8C2633"/>
          </a:solidFill>
          <a:ln w="12700">
            <a:solidFill>
              <a:srgbClr val="8C26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7571232" y="2990088"/>
            <a:ext cx="380390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FFFFFF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低轨通信卫星单星功率由25kW提升至60kW，带动装机功率增长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6446520" y="3785616"/>
            <a:ext cx="960120" cy="658368"/>
          </a:xfrm>
          <a:prstGeom prst="rect">
            <a:avLst/>
          </a:prstGeom>
          <a:solidFill>
            <a:srgbClr val="2D4453"/>
          </a:solidFill>
          <a:ln w="12700">
            <a:solidFill>
              <a:srgbClr val="2D44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6492240" y="3858768"/>
            <a:ext cx="868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技术降本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434072" y="3785616"/>
            <a:ext cx="4087368" cy="658368"/>
          </a:xfrm>
          <a:prstGeom prst="rect">
            <a:avLst/>
          </a:prstGeom>
          <a:solidFill>
            <a:srgbClr val="2D4453"/>
          </a:solidFill>
          <a:ln w="12700">
            <a:solidFill>
              <a:srgbClr val="2D44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7571232" y="3886200"/>
            <a:ext cx="380390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FFFFFF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砷化镓保持高价值场景优势，HJT与钙钛矿凭借成本/轻量化提升渗透</a:t>
            </a:r>
            <a:endParaRPr lang="en-US" sz="920" dirty="0"/>
          </a:p>
        </p:txBody>
      </p:sp>
      <p:sp>
        <p:nvSpPr>
          <p:cNvPr id="47" name="Shape 45"/>
          <p:cNvSpPr/>
          <p:nvPr/>
        </p:nvSpPr>
        <p:spPr>
          <a:xfrm>
            <a:off x="6446520" y="4800600"/>
            <a:ext cx="5074920" cy="502920"/>
          </a:xfrm>
          <a:prstGeom prst="rect">
            <a:avLst/>
          </a:prstGeom>
          <a:solidFill>
            <a:srgbClr val="F5F7F8"/>
          </a:solidFill>
          <a:ln w="12700">
            <a:solidFill>
              <a:srgbClr val="BFCA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6629400" y="4956048"/>
            <a:ext cx="46634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sz="1050" b="1">
                <a:latin typeface="LF_Kai"/>
              </a:rPr>
              <a:t>核心锚点：仅千帆+国网两大星座，2030E / 2035E卫星电源分系统市场约246 / 378亿元；更广义市场弹性主要来自太空算力与新技术渗透。</a:t>
            </a:r>
          </a:p>
        </p:txBody>
      </p:sp>
      <p:sp>
        <p:nvSpPr>
          <p:cNvPr id="49" name="Text 47"/>
          <p:cNvSpPr/>
          <p:nvPr/>
        </p:nvSpPr>
        <p:spPr>
          <a:xfrm>
            <a:off x="411480" y="6181344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850" b="0">
                <a:latin typeface="LF_Kai"/>
              </a:rPr>
              <a:t>资料来源：电科蓝天IPO审核问询回复；正点财经《太空光伏行业深度》；华尔街见闻、新华网、中原证券研究所。</a:t>
            </a:r>
          </a:p>
        </p:txBody>
      </p:sp>
      <p:sp>
        <p:nvSpPr>
          <p:cNvPr id="50" name="Shape 48"/>
          <p:cNvSpPr/>
          <p:nvPr/>
        </p:nvSpPr>
        <p:spPr>
          <a:xfrm>
            <a:off x="0" y="6483096"/>
            <a:ext cx="12191695" cy="374904"/>
          </a:xfrm>
          <a:prstGeom prst="rect">
            <a:avLst/>
          </a:prstGeom>
          <a:solidFill>
            <a:srgbClr val="2D4453"/>
          </a:solidFill>
          <a:ln w="12700">
            <a:solidFill>
              <a:srgbClr val="2D44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347472" y="65745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J.P. MORGAN  Natural Resources</a:t>
            </a:r>
            <a:endParaRPr lang="en-US" sz="880" dirty="0"/>
          </a:p>
        </p:txBody>
      </p:sp>
      <p:sp>
        <p:nvSpPr>
          <p:cNvPr id="52" name="Text 50"/>
          <p:cNvSpPr/>
          <p:nvPr/>
        </p:nvSpPr>
        <p:spPr>
          <a:xfrm>
            <a:off x="8732520" y="6574536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1292840" y="657453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FFFFFF"/>
                </a:solidFill>
                <a:latin typeface="Arial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201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5323C"/>
                </a:solidFill>
                <a:latin typeface="LF_Kai"/>
              </a:rPr>
              <a:t>产业链：价值量从电池片延伸至完整卫星电源系统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58368"/>
            <a:ext cx="11384280" cy="22860"/>
          </a:xfrm>
          <a:prstGeom prst="rect">
            <a:avLst/>
          </a:prstGeom>
          <a:solidFill>
            <a:srgbClr val="243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731520"/>
            <a:ext cx="11384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566875"/>
                </a:solidFill>
                <a:latin typeface="LF_Kai"/>
              </a:rPr>
              <a:t>中游系统集成环节将发电、展开、储能与控制合并为整星能源解决方案，是馥昶空间所在的核心价值池。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30751" y="5276088"/>
            <a:ext cx="6309359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952531"/>
                </a:solidFill>
                <a:latin typeface="LF_Kai"/>
              </a:rPr>
              <a:t>馥昶空间核心覆盖：太阳翼/组件、展开及驱动、储能系统、电源控制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70432"/>
            <a:ext cx="1490472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170432"/>
            <a:ext cx="1490472" cy="402336"/>
          </a:xfrm>
          <a:prstGeom prst="rect">
            <a:avLst/>
          </a:prstGeom>
          <a:solidFill>
            <a:srgbClr val="243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399031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LF_Kai"/>
              </a:rPr>
              <a:t>上游材料/设备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" y="1746504"/>
            <a:ext cx="1325880" cy="1069848"/>
          </a:xfrm>
          <a:prstGeom prst="rect">
            <a:avLst/>
          </a:prstGeom>
          <a:solidFill>
            <a:srgbClr val="F8F9FA"/>
          </a:solidFill>
          <a:ln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8" y="3017520"/>
            <a:ext cx="1271016" cy="1225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>
                <a:solidFill>
                  <a:srgbClr val="25323C"/>
                </a:solidFill>
                <a:latin typeface="LF_Kai"/>
              </a:rPr>
              <a:t>砷化镓衬底/外延</a:t>
            </a:r>
          </a:p>
          <a:p>
            <a:pPr algn="l"/>
            <a:r>
              <a:rPr sz="960">
                <a:solidFill>
                  <a:srgbClr val="25323C"/>
                </a:solidFill>
                <a:latin typeface="LF_Kai"/>
              </a:rPr>
              <a:t>TCO玻璃、CPI/UTG</a:t>
            </a:r>
          </a:p>
          <a:p>
            <a:pPr algn="l"/>
            <a:r>
              <a:rPr sz="960">
                <a:solidFill>
                  <a:srgbClr val="25323C"/>
                </a:solidFill>
                <a:latin typeface="LF_Kai"/>
              </a:rPr>
              <a:t>MOCVD/PVD/激光设备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" y="4425696"/>
            <a:ext cx="1234439" cy="384048"/>
          </a:xfrm>
          <a:prstGeom prst="roundRect">
            <a:avLst/>
          </a:prstGeom>
          <a:solidFill>
            <a:srgbClr val="F1F6F9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6072" y="4498848"/>
            <a:ext cx="116128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566875"/>
                </a:solidFill>
                <a:latin typeface="LF_Kai"/>
              </a:rPr>
              <a:t>支撑环节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883664" y="2615184"/>
            <a:ext cx="182880" cy="164592"/>
          </a:xfrm>
          <a:prstGeom prst="rightArrow">
            <a:avLst/>
          </a:prstGeom>
          <a:solidFill>
            <a:srgbClr val="82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048255" y="1170432"/>
            <a:ext cx="1490472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048255" y="1170432"/>
            <a:ext cx="1490472" cy="402336"/>
          </a:xfrm>
          <a:prstGeom prst="rect">
            <a:avLst/>
          </a:prstGeom>
          <a:solidFill>
            <a:srgbClr val="243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093975" y="1234440"/>
            <a:ext cx="1399031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LF_Kai"/>
              </a:rPr>
              <a:t>空间太阳电池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30551" y="1746504"/>
            <a:ext cx="1325880" cy="1069848"/>
          </a:xfrm>
          <a:prstGeom prst="rect">
            <a:avLst/>
          </a:prstGeom>
          <a:solidFill>
            <a:srgbClr val="F8F9FA"/>
          </a:solidFill>
          <a:ln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157984" y="3017520"/>
            <a:ext cx="1271016" cy="1225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>
                <a:solidFill>
                  <a:srgbClr val="25323C"/>
                </a:solidFill>
                <a:latin typeface="LF_Kai"/>
              </a:rPr>
              <a:t>三结砷化镓</a:t>
            </a:r>
          </a:p>
          <a:p>
            <a:pPr algn="l"/>
            <a:r>
              <a:rPr sz="960">
                <a:solidFill>
                  <a:srgbClr val="25323C"/>
                </a:solidFill>
                <a:latin typeface="LF_Kai"/>
              </a:rPr>
              <a:t>P型HJT</a:t>
            </a:r>
          </a:p>
          <a:p>
            <a:pPr algn="l"/>
            <a:r>
              <a:rPr sz="960">
                <a:solidFill>
                  <a:srgbClr val="25323C"/>
                </a:solidFill>
                <a:latin typeface="LF_Kai"/>
              </a:rPr>
              <a:t>钙钛矿/叠层电池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76272" y="4425696"/>
            <a:ext cx="1234439" cy="384048"/>
          </a:xfrm>
          <a:prstGeom prst="roundRect">
            <a:avLst/>
          </a:prstGeom>
          <a:solidFill>
            <a:srgbClr val="F1F6F9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212848" y="4498848"/>
            <a:ext cx="116128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566875"/>
                </a:solidFill>
                <a:latin typeface="LF_Kai"/>
              </a:rPr>
              <a:t>支撑环节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520439" y="2615184"/>
            <a:ext cx="182880" cy="164592"/>
          </a:xfrm>
          <a:prstGeom prst="rightArrow">
            <a:avLst/>
          </a:prstGeom>
          <a:solidFill>
            <a:srgbClr val="82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685031" y="1170432"/>
            <a:ext cx="1490472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85031" y="1170432"/>
            <a:ext cx="1490472" cy="402336"/>
          </a:xfrm>
          <a:prstGeom prst="rect">
            <a:avLst/>
          </a:prstGeom>
          <a:solidFill>
            <a:srgbClr val="243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30751" y="1234440"/>
            <a:ext cx="1399031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LF_Kai"/>
              </a:rPr>
              <a:t>太阳翼/组件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67327" y="1746504"/>
            <a:ext cx="1325880" cy="1069848"/>
          </a:xfrm>
          <a:prstGeom prst="rect">
            <a:avLst/>
          </a:prstGeom>
          <a:solidFill>
            <a:srgbClr val="F8F9FA"/>
          </a:solidFill>
          <a:ln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94759" y="3017520"/>
            <a:ext cx="1271016" cy="1225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>
                <a:solidFill>
                  <a:srgbClr val="25323C"/>
                </a:solidFill>
                <a:latin typeface="LF_Kai"/>
              </a:rPr>
              <a:t>刚性/半刚性太阳阵</a:t>
            </a:r>
          </a:p>
          <a:p>
            <a:pPr algn="l"/>
            <a:r>
              <a:rPr sz="960">
                <a:solidFill>
                  <a:srgbClr val="25323C"/>
                </a:solidFill>
                <a:latin typeface="LF_Kai"/>
              </a:rPr>
              <a:t>柔性太阳翼</a:t>
            </a:r>
          </a:p>
          <a:p>
            <a:pPr algn="l"/>
            <a:r>
              <a:rPr sz="960">
                <a:solidFill>
                  <a:srgbClr val="25323C"/>
                </a:solidFill>
                <a:latin typeface="LF_Kai"/>
              </a:rPr>
              <a:t>电池片互联与封装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3047" y="4425696"/>
            <a:ext cx="1234439" cy="384048"/>
          </a:xfrm>
          <a:prstGeom prst="roundRect">
            <a:avLst/>
          </a:prstGeom>
          <a:solidFill>
            <a:srgbClr val="EBF4F0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49623" y="4498848"/>
            <a:ext cx="116128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566875"/>
                </a:solidFill>
                <a:latin typeface="LF_Kai"/>
              </a:rPr>
              <a:t>系统价值池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5157216" y="2615184"/>
            <a:ext cx="182880" cy="164592"/>
          </a:xfrm>
          <a:prstGeom prst="rightArrow">
            <a:avLst/>
          </a:prstGeom>
          <a:solidFill>
            <a:srgbClr val="82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321807" y="1170432"/>
            <a:ext cx="1490472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321807" y="1170432"/>
            <a:ext cx="1490472" cy="402336"/>
          </a:xfrm>
          <a:prstGeom prst="rect">
            <a:avLst/>
          </a:prstGeom>
          <a:solidFill>
            <a:srgbClr val="243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67527" y="1234440"/>
            <a:ext cx="1399031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LF_Kai"/>
              </a:rPr>
              <a:t>展开及驱动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04103" y="1746504"/>
            <a:ext cx="1325880" cy="1069848"/>
          </a:xfrm>
          <a:prstGeom prst="rect">
            <a:avLst/>
          </a:prstGeom>
          <a:solidFill>
            <a:srgbClr val="F8F9FA"/>
          </a:solidFill>
          <a:ln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31536" y="3017520"/>
            <a:ext cx="1271016" cy="1225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>
                <a:solidFill>
                  <a:srgbClr val="25323C"/>
                </a:solidFill>
                <a:latin typeface="LF_Kai"/>
              </a:rPr>
              <a:t>展开机构</a:t>
            </a:r>
          </a:p>
          <a:p>
            <a:pPr algn="l"/>
            <a:r>
              <a:rPr sz="960">
                <a:solidFill>
                  <a:srgbClr val="25323C"/>
                </a:solidFill>
                <a:latin typeface="LF_Kai"/>
              </a:rPr>
              <a:t>太阳翼驱动机构</a:t>
            </a:r>
          </a:p>
          <a:p>
            <a:pPr algn="l"/>
            <a:r>
              <a:rPr sz="960">
                <a:solidFill>
                  <a:srgbClr val="25323C"/>
                </a:solidFill>
                <a:latin typeface="LF_Kai"/>
              </a:rPr>
              <a:t>收拢与释放结构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49823" y="4425696"/>
            <a:ext cx="1234439" cy="384048"/>
          </a:xfrm>
          <a:prstGeom prst="roundRect">
            <a:avLst/>
          </a:prstGeom>
          <a:solidFill>
            <a:srgbClr val="EBF4F0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399" y="4498848"/>
            <a:ext cx="116128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566875"/>
                </a:solidFill>
                <a:latin typeface="LF_Kai"/>
              </a:rPr>
              <a:t>系统价值池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6793992" y="2615184"/>
            <a:ext cx="182880" cy="164592"/>
          </a:xfrm>
          <a:prstGeom prst="rightArrow">
            <a:avLst/>
          </a:prstGeom>
          <a:solidFill>
            <a:srgbClr val="82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958583" y="1170432"/>
            <a:ext cx="1490472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958583" y="1170432"/>
            <a:ext cx="1490472" cy="402336"/>
          </a:xfrm>
          <a:prstGeom prst="rect">
            <a:avLst/>
          </a:prstGeom>
          <a:solidFill>
            <a:srgbClr val="243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004303" y="1234440"/>
            <a:ext cx="1399031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LF_Kai"/>
              </a:rPr>
              <a:t>储能系统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40879" y="1746504"/>
            <a:ext cx="1325880" cy="1069848"/>
          </a:xfrm>
          <a:prstGeom prst="rect">
            <a:avLst/>
          </a:prstGeom>
          <a:solidFill>
            <a:srgbClr val="F8F9FA"/>
          </a:solidFill>
          <a:ln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068312" y="3017520"/>
            <a:ext cx="1271016" cy="1225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>
                <a:solidFill>
                  <a:srgbClr val="25323C"/>
                </a:solidFill>
                <a:latin typeface="LF_Kai"/>
              </a:rPr>
              <a:t>锂离子电池组</a:t>
            </a:r>
          </a:p>
          <a:p>
            <a:pPr algn="l"/>
            <a:r>
              <a:rPr sz="960">
                <a:solidFill>
                  <a:srgbClr val="25323C"/>
                </a:solidFill>
                <a:latin typeface="LF_Kai"/>
              </a:rPr>
              <a:t>温控与安全管理</a:t>
            </a:r>
          </a:p>
          <a:p>
            <a:pPr algn="l"/>
            <a:r>
              <a:rPr sz="960">
                <a:solidFill>
                  <a:srgbClr val="25323C"/>
                </a:solidFill>
                <a:latin typeface="LF_Kai"/>
              </a:rPr>
              <a:t>循环寿命验证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86599" y="4425696"/>
            <a:ext cx="1234439" cy="384048"/>
          </a:xfrm>
          <a:prstGeom prst="roundRect">
            <a:avLst/>
          </a:prstGeom>
          <a:solidFill>
            <a:srgbClr val="EBF4F0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123175" y="4498848"/>
            <a:ext cx="116128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566875"/>
                </a:solidFill>
                <a:latin typeface="LF_Kai"/>
              </a:rPr>
              <a:t>系统价值池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8430767" y="2615184"/>
            <a:ext cx="182880" cy="164592"/>
          </a:xfrm>
          <a:prstGeom prst="rightArrow">
            <a:avLst/>
          </a:prstGeom>
          <a:solidFill>
            <a:srgbClr val="82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8595359" y="1170432"/>
            <a:ext cx="1490472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595359" y="1170432"/>
            <a:ext cx="1490472" cy="402336"/>
          </a:xfrm>
          <a:prstGeom prst="rect">
            <a:avLst/>
          </a:prstGeom>
          <a:solidFill>
            <a:srgbClr val="243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641080" y="1234440"/>
            <a:ext cx="1399031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LF_Kai"/>
              </a:rPr>
              <a:t>电源控制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677655" y="1746504"/>
            <a:ext cx="1325880" cy="1069848"/>
          </a:xfrm>
          <a:prstGeom prst="rect">
            <a:avLst/>
          </a:prstGeom>
          <a:solidFill>
            <a:srgbClr val="F8F9FA"/>
          </a:solidFill>
          <a:ln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705087" y="3017520"/>
            <a:ext cx="1271016" cy="1225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>
                <a:solidFill>
                  <a:srgbClr val="25323C"/>
                </a:solidFill>
                <a:latin typeface="LF_Kai"/>
              </a:rPr>
              <a:t>PCDU/BMS</a:t>
            </a:r>
          </a:p>
          <a:p>
            <a:pPr algn="l"/>
            <a:r>
              <a:rPr sz="960">
                <a:solidFill>
                  <a:srgbClr val="25323C"/>
                </a:solidFill>
                <a:latin typeface="LF_Kai"/>
              </a:rPr>
              <a:t>配电与保护</a:t>
            </a:r>
          </a:p>
          <a:p>
            <a:pPr algn="l"/>
            <a:r>
              <a:rPr sz="960">
                <a:solidFill>
                  <a:srgbClr val="25323C"/>
                </a:solidFill>
                <a:latin typeface="LF_Kai"/>
              </a:rPr>
              <a:t>充放电控制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723376" y="4425696"/>
            <a:ext cx="1234439" cy="384048"/>
          </a:xfrm>
          <a:prstGeom prst="roundRect">
            <a:avLst/>
          </a:prstGeom>
          <a:solidFill>
            <a:srgbClr val="EBF4F0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759951" y="4498848"/>
            <a:ext cx="116128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566875"/>
                </a:solidFill>
                <a:latin typeface="LF_Kai"/>
              </a:rPr>
              <a:t>系统价值池</a:t>
            </a:r>
          </a:p>
        </p:txBody>
      </p:sp>
      <p:sp>
        <p:nvSpPr>
          <p:cNvPr id="60" name="Right Arrow 59"/>
          <p:cNvSpPr/>
          <p:nvPr/>
        </p:nvSpPr>
        <p:spPr>
          <a:xfrm>
            <a:off x="10067543" y="2615184"/>
            <a:ext cx="182880" cy="164592"/>
          </a:xfrm>
          <a:prstGeom prst="rightArrow">
            <a:avLst/>
          </a:prstGeom>
          <a:solidFill>
            <a:srgbClr val="82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10232135" y="1170432"/>
            <a:ext cx="1490472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10232135" y="1170432"/>
            <a:ext cx="1490472" cy="402336"/>
          </a:xfrm>
          <a:prstGeom prst="rect">
            <a:avLst/>
          </a:prstGeom>
          <a:solidFill>
            <a:srgbClr val="243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277855" y="1234440"/>
            <a:ext cx="1399031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LF_Kai"/>
              </a:rPr>
              <a:t>下游应用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314431" y="1746504"/>
            <a:ext cx="1325880" cy="1069848"/>
          </a:xfrm>
          <a:prstGeom prst="rect">
            <a:avLst/>
          </a:prstGeom>
          <a:solidFill>
            <a:srgbClr val="F8F9FA"/>
          </a:solidFill>
          <a:ln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0341863" y="3017520"/>
            <a:ext cx="1271016" cy="1225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>
                <a:solidFill>
                  <a:srgbClr val="25323C"/>
                </a:solidFill>
                <a:latin typeface="LF_Kai"/>
              </a:rPr>
              <a:t>通信/遥感/导航卫星</a:t>
            </a:r>
          </a:p>
          <a:p>
            <a:pPr algn="l"/>
            <a:r>
              <a:rPr sz="960">
                <a:solidFill>
                  <a:srgbClr val="25323C"/>
                </a:solidFill>
                <a:latin typeface="LF_Kai"/>
              </a:rPr>
              <a:t>太空算力</a:t>
            </a:r>
          </a:p>
          <a:p>
            <a:pPr algn="l"/>
            <a:r>
              <a:rPr sz="960">
                <a:solidFill>
                  <a:srgbClr val="25323C"/>
                </a:solidFill>
                <a:latin typeface="LF_Kai"/>
              </a:rPr>
              <a:t>深空探测/空间站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360151" y="4425696"/>
            <a:ext cx="1234439" cy="384048"/>
          </a:xfrm>
          <a:prstGeom prst="roundRect">
            <a:avLst/>
          </a:prstGeom>
          <a:solidFill>
            <a:srgbClr val="F1F6F9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396727" y="4498848"/>
            <a:ext cx="116128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566875"/>
                </a:solidFill>
                <a:latin typeface="LF_Kai"/>
              </a:rPr>
              <a:t>需求端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02920" y="5504688"/>
            <a:ext cx="11109960" cy="502920"/>
          </a:xfrm>
          <a:prstGeom prst="roundRect">
            <a:avLst/>
          </a:prstGeom>
          <a:solidFill>
            <a:srgbClr val="F7F9FB"/>
          </a:solidFill>
          <a:ln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85800" y="5605272"/>
            <a:ext cx="10744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30" b="0">
                <a:solidFill>
                  <a:srgbClr val="25323C"/>
                </a:solidFill>
                <a:latin typeface="LF_Kai"/>
              </a:rPr>
              <a:t>Read-through：从单片电池到完整系统，价值量与客户黏性逐步提升；馥昶空间的核心机会在于系统级交付，而非单一电池片销售。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1480" y="6126480"/>
            <a:ext cx="113385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66875"/>
                </a:solidFill>
                <a:latin typeface="LF_Kai"/>
              </a:rPr>
              <a:t>资料来源：正点财经《太空光伏行业深度》、公司官网及团队整理；图片为公开资料/报告页面截图。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483096"/>
            <a:ext cx="12191695" cy="374904"/>
          </a:xfrm>
          <a:prstGeom prst="rect">
            <a:avLst/>
          </a:prstGeom>
          <a:solidFill>
            <a:srgbClr val="243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47472" y="6574536"/>
            <a:ext cx="365760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J.P. MORGAN  Natural Resources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732520" y="6574536"/>
            <a:ext cx="228600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/>
              </a:rPr>
              <a:t>PRIVATE &amp; CONFIDENTIAL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292840" y="6574536"/>
            <a:ext cx="45720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技术路线：砷化镓主导高价值任务，HJT/钙钛矿打开增量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84280" cy="0"/>
          </a:xfrm>
          <a:prstGeom prst="line">
            <a:avLst/>
          </a:prstGeom>
          <a:noFill/>
          <a:ln w="15240">
            <a:solidFill>
              <a:srgbClr val="2D44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11384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4727A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不同应用场景对成本、重量、抗辐照、寿命和大面积部署能力的要求不同，推动多技术路线并行。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2743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主要技术路线对比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960120" cy="329184"/>
          </a:xfrm>
          <a:prstGeom prst="rect">
            <a:avLst/>
          </a:prstGeom>
          <a:solidFill>
            <a:srgbClr val="2D4453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03504" y="1298448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路线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527048" y="1261872"/>
            <a:ext cx="2423160" cy="329184"/>
          </a:xfrm>
          <a:prstGeom prst="rect">
            <a:avLst/>
          </a:prstGeom>
          <a:solidFill>
            <a:srgbClr val="2D4453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563624" y="1298448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优势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950208" y="1261872"/>
            <a:ext cx="2423160" cy="329184"/>
          </a:xfrm>
          <a:prstGeom prst="rect">
            <a:avLst/>
          </a:prstGeom>
          <a:solidFill>
            <a:srgbClr val="2D4453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986784" y="1298448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适配场景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566928" y="1591056"/>
            <a:ext cx="960120" cy="585216"/>
          </a:xfrm>
          <a:prstGeom prst="rect">
            <a:avLst/>
          </a:prstGeom>
          <a:solidFill>
            <a:srgbClr val="F4F7F8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03504" y="1627632"/>
            <a:ext cx="886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三结砷化镓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1527048" y="1591056"/>
            <a:ext cx="2423160" cy="585216"/>
          </a:xfrm>
          <a:prstGeom prst="rect">
            <a:avLst/>
          </a:prstGeom>
          <a:solidFill>
            <a:srgbClr val="F4F7F8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563624" y="1627632"/>
            <a:ext cx="2350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效率高、抗辐照强、寿命可靠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3950208" y="1591056"/>
            <a:ext cx="2423160" cy="585216"/>
          </a:xfrm>
          <a:prstGeom prst="rect">
            <a:avLst/>
          </a:prstGeom>
          <a:solidFill>
            <a:srgbClr val="F4F7F8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3986784" y="1627632"/>
            <a:ext cx="2350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高价值通信/导航/深空卫星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566928" y="2176272"/>
            <a:ext cx="9601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03504" y="2212848"/>
            <a:ext cx="886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P型HJT/晶硅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1527048" y="2176272"/>
            <a:ext cx="242316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563624" y="2212848"/>
            <a:ext cx="2350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成本低、柔性化和薄片化潜力强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3950208" y="2176272"/>
            <a:ext cx="242316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3986784" y="2212848"/>
            <a:ext cx="2350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低轨星座、太空算力早期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66928" y="2761488"/>
            <a:ext cx="960120" cy="585216"/>
          </a:xfrm>
          <a:prstGeom prst="rect">
            <a:avLst/>
          </a:prstGeom>
          <a:solidFill>
            <a:srgbClr val="F4F7F8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03504" y="2798064"/>
            <a:ext cx="886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钙钛矿/叠层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1527048" y="2761488"/>
            <a:ext cx="2423160" cy="585216"/>
          </a:xfrm>
          <a:prstGeom prst="rect">
            <a:avLst/>
          </a:prstGeom>
          <a:solidFill>
            <a:srgbClr val="F4F7F8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1563624" y="2798064"/>
            <a:ext cx="2350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轻量化与高比功率潜力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3950208" y="2761488"/>
            <a:ext cx="2423160" cy="585216"/>
          </a:xfrm>
          <a:prstGeom prst="rect">
            <a:avLst/>
          </a:prstGeom>
          <a:solidFill>
            <a:srgbClr val="F4F7F8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3986784" y="2798064"/>
            <a:ext cx="2350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月面/大型平台远期场景</a:t>
            </a:r>
            <a:endParaRPr lang="en-US" sz="860" dirty="0"/>
          </a:p>
        </p:txBody>
      </p:sp>
      <p:sp>
        <p:nvSpPr>
          <p:cNvPr id="30" name="Text 28"/>
          <p:cNvSpPr/>
          <p:nvPr/>
        </p:nvSpPr>
        <p:spPr>
          <a:xfrm>
            <a:off x="6492240" y="987552"/>
            <a:ext cx="27432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应用场景及要求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6492240" y="1261872"/>
            <a:ext cx="1508760" cy="329184"/>
          </a:xfrm>
          <a:prstGeom prst="rect">
            <a:avLst/>
          </a:prstGeom>
          <a:solidFill>
            <a:srgbClr val="2D4453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528816" y="1298448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应用场景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8001000" y="1261872"/>
            <a:ext cx="1783080" cy="329184"/>
          </a:xfrm>
          <a:prstGeom prst="rect">
            <a:avLst/>
          </a:prstGeom>
          <a:solidFill>
            <a:srgbClr val="2D4453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037576" y="1298448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典型载体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9784080" y="1261872"/>
            <a:ext cx="1920240" cy="329184"/>
          </a:xfrm>
          <a:prstGeom prst="rect">
            <a:avLst/>
          </a:prstGeom>
          <a:solidFill>
            <a:srgbClr val="2D4453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9820656" y="129844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需求特征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6492240" y="1591056"/>
            <a:ext cx="1508760" cy="502920"/>
          </a:xfrm>
          <a:prstGeom prst="rect">
            <a:avLst/>
          </a:prstGeom>
          <a:solidFill>
            <a:srgbClr val="F4F7F8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6528816" y="1627632"/>
            <a:ext cx="1435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航天器平台供电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8001000" y="1591056"/>
            <a:ext cx="1783080" cy="502920"/>
          </a:xfrm>
          <a:prstGeom prst="rect">
            <a:avLst/>
          </a:prstGeom>
          <a:solidFill>
            <a:srgbClr val="F4F7F8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8037576" y="1627632"/>
            <a:ext cx="17099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通信/遥感/导航卫星</a:t>
            </a:r>
            <a:endParaRPr lang="en-US" sz="830" dirty="0"/>
          </a:p>
        </p:txBody>
      </p:sp>
      <p:sp>
        <p:nvSpPr>
          <p:cNvPr id="41" name="Shape 39"/>
          <p:cNvSpPr/>
          <p:nvPr/>
        </p:nvSpPr>
        <p:spPr>
          <a:xfrm>
            <a:off x="9784080" y="1591056"/>
            <a:ext cx="1920240" cy="502920"/>
          </a:xfrm>
          <a:prstGeom prst="rect">
            <a:avLst/>
          </a:prstGeom>
          <a:solidFill>
            <a:srgbClr val="F4F7F8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9820656" y="1627632"/>
            <a:ext cx="18470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从W级到10kW+；稳定、长寿命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6492240" y="2093976"/>
            <a:ext cx="1508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6528816" y="2130552"/>
            <a:ext cx="1435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在轨大型平台</a:t>
            </a:r>
            <a:endParaRPr lang="en-US" sz="830" dirty="0"/>
          </a:p>
        </p:txBody>
      </p:sp>
      <p:sp>
        <p:nvSpPr>
          <p:cNvPr id="45" name="Shape 43"/>
          <p:cNvSpPr/>
          <p:nvPr/>
        </p:nvSpPr>
        <p:spPr>
          <a:xfrm>
            <a:off x="8001000" y="2093976"/>
            <a:ext cx="1783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8037576" y="2130552"/>
            <a:ext cx="17099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空间站/商业平台</a:t>
            </a:r>
            <a:endParaRPr lang="en-US" sz="830" dirty="0"/>
          </a:p>
        </p:txBody>
      </p:sp>
      <p:sp>
        <p:nvSpPr>
          <p:cNvPr id="47" name="Shape 45"/>
          <p:cNvSpPr/>
          <p:nvPr/>
        </p:nvSpPr>
        <p:spPr>
          <a:xfrm>
            <a:off x="9784080" y="2093976"/>
            <a:ext cx="1920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9820656" y="2130552"/>
            <a:ext cx="18470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10–100kW；连续运行与冗余</a:t>
            </a:r>
            <a:endParaRPr lang="en-US" sz="830" dirty="0"/>
          </a:p>
        </p:txBody>
      </p:sp>
      <p:sp>
        <p:nvSpPr>
          <p:cNvPr id="49" name="Shape 47"/>
          <p:cNvSpPr/>
          <p:nvPr/>
        </p:nvSpPr>
        <p:spPr>
          <a:xfrm>
            <a:off x="6492240" y="2596896"/>
            <a:ext cx="1508760" cy="502920"/>
          </a:xfrm>
          <a:prstGeom prst="rect">
            <a:avLst/>
          </a:prstGeom>
          <a:solidFill>
            <a:srgbClr val="F4F7F8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6528816" y="2633472"/>
            <a:ext cx="1435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深空探测/月面</a:t>
            </a:r>
            <a:endParaRPr lang="en-US" sz="830" dirty="0"/>
          </a:p>
        </p:txBody>
      </p:sp>
      <p:sp>
        <p:nvSpPr>
          <p:cNvPr id="51" name="Shape 49"/>
          <p:cNvSpPr/>
          <p:nvPr/>
        </p:nvSpPr>
        <p:spPr>
          <a:xfrm>
            <a:off x="8001000" y="2596896"/>
            <a:ext cx="1783080" cy="502920"/>
          </a:xfrm>
          <a:prstGeom prst="rect">
            <a:avLst/>
          </a:prstGeom>
          <a:solidFill>
            <a:srgbClr val="F4F7F8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8037576" y="2633472"/>
            <a:ext cx="17099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探测器/月面PPE</a:t>
            </a:r>
            <a:endParaRPr lang="en-US" sz="830" dirty="0"/>
          </a:p>
        </p:txBody>
      </p:sp>
      <p:sp>
        <p:nvSpPr>
          <p:cNvPr id="53" name="Shape 51"/>
          <p:cNvSpPr/>
          <p:nvPr/>
        </p:nvSpPr>
        <p:spPr>
          <a:xfrm>
            <a:off x="9784080" y="2596896"/>
            <a:ext cx="1920240" cy="502920"/>
          </a:xfrm>
          <a:prstGeom prst="rect">
            <a:avLst/>
          </a:prstGeom>
          <a:solidFill>
            <a:srgbClr val="F4F7F8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9820656" y="2633472"/>
            <a:ext cx="18470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高功率密度、抗温差、长寿命</a:t>
            </a:r>
            <a:endParaRPr lang="en-US" sz="830" dirty="0"/>
          </a:p>
        </p:txBody>
      </p:sp>
      <p:sp>
        <p:nvSpPr>
          <p:cNvPr id="55" name="Shape 53"/>
          <p:cNvSpPr/>
          <p:nvPr/>
        </p:nvSpPr>
        <p:spPr>
          <a:xfrm>
            <a:off x="6492240" y="3099816"/>
            <a:ext cx="1508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6528816" y="3136392"/>
            <a:ext cx="1435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空间能源基础设施</a:t>
            </a:r>
            <a:endParaRPr lang="en-US" sz="830" dirty="0"/>
          </a:p>
        </p:txBody>
      </p:sp>
      <p:sp>
        <p:nvSpPr>
          <p:cNvPr id="57" name="Shape 55"/>
          <p:cNvSpPr/>
          <p:nvPr/>
        </p:nvSpPr>
        <p:spPr>
          <a:xfrm>
            <a:off x="8001000" y="3099816"/>
            <a:ext cx="1783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8037576" y="3136392"/>
            <a:ext cx="17099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太空算力/天基电站</a:t>
            </a:r>
            <a:endParaRPr lang="en-US" sz="830" dirty="0"/>
          </a:p>
        </p:txBody>
      </p:sp>
      <p:sp>
        <p:nvSpPr>
          <p:cNvPr id="59" name="Shape 57"/>
          <p:cNvSpPr/>
          <p:nvPr/>
        </p:nvSpPr>
        <p:spPr>
          <a:xfrm>
            <a:off x="9784080" y="3099816"/>
            <a:ext cx="1920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9820656" y="3136392"/>
            <a:ext cx="18470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MW级潜力；需降本与大面积部署</a:t>
            </a:r>
            <a:endParaRPr lang="en-US" sz="830" dirty="0"/>
          </a:p>
        </p:txBody>
      </p:sp>
      <p:sp>
        <p:nvSpPr>
          <p:cNvPr id="61" name="Shape 59"/>
          <p:cNvSpPr/>
          <p:nvPr/>
        </p:nvSpPr>
        <p:spPr>
          <a:xfrm>
            <a:off x="566928" y="4069080"/>
            <a:ext cx="10972800" cy="777240"/>
          </a:xfrm>
          <a:prstGeom prst="rect">
            <a:avLst/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777240" y="4297680"/>
            <a:ext cx="1051560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4453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行业判断：当前高可靠任务仍以三结砷化镓为主；随着低轨星座批量化和太空算力发展，低成本、轻量化、大面积部署的重要性上升，HJT、钙钛矿和柔性太阳翼将成为增量技术路线。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40080" y="5257800"/>
            <a:ext cx="150876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BFCA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685800" y="53309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30–32%</a:t>
            </a:r>
            <a:endParaRPr lang="en-US" sz="2000" dirty="0"/>
          </a:p>
        </p:txBody>
      </p:sp>
      <p:sp>
        <p:nvSpPr>
          <p:cNvPr id="65" name="Text 63"/>
          <p:cNvSpPr/>
          <p:nvPr/>
        </p:nvSpPr>
        <p:spPr>
          <a:xfrm>
            <a:off x="694944" y="5650992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27A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三结砷化镓电池效率区间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423160" y="5257800"/>
            <a:ext cx="150876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BFCA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Text 65"/>
          <p:cNvSpPr/>
          <p:nvPr/>
        </p:nvSpPr>
        <p:spPr>
          <a:xfrm>
            <a:off x="2468880" y="53309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9C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GW级</a:t>
            </a: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2478024" y="5650992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27A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太空算力远期功率弹性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206240" y="5257800"/>
            <a:ext cx="150876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BFCA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Text 68"/>
          <p:cNvSpPr/>
          <p:nvPr/>
        </p:nvSpPr>
        <p:spPr>
          <a:xfrm>
            <a:off x="4251960" y="53309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多路线</a:t>
            </a:r>
            <a:endParaRPr lang="en-US" sz="2000" dirty="0"/>
          </a:p>
        </p:txBody>
      </p:sp>
      <p:sp>
        <p:nvSpPr>
          <p:cNvPr id="71" name="Text 69"/>
          <p:cNvSpPr/>
          <p:nvPr/>
        </p:nvSpPr>
        <p:spPr>
          <a:xfrm>
            <a:off x="4261104" y="5650992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27A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高价值+低成本并行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411480" y="6181344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B6D7D"/>
                </a:solidFill>
                <a:latin typeface="LF_Kai"/>
              </a:rPr>
              <a:t>资料来源：正点财经《太空光伏行业深度》；NASA、ESA、国信证券经研所整理。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0" y="6483096"/>
            <a:ext cx="12191695" cy="374904"/>
          </a:xfrm>
          <a:prstGeom prst="rect">
            <a:avLst/>
          </a:prstGeom>
          <a:solidFill>
            <a:srgbClr val="2D4453"/>
          </a:solidFill>
          <a:ln w="12700">
            <a:solidFill>
              <a:srgbClr val="2D44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Text 72"/>
          <p:cNvSpPr/>
          <p:nvPr/>
        </p:nvSpPr>
        <p:spPr>
          <a:xfrm>
            <a:off x="347472" y="65745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J.P. MORGAN  Natural Resources</a:t>
            </a:r>
            <a:endParaRPr lang="en-US" sz="880" dirty="0"/>
          </a:p>
        </p:txBody>
      </p:sp>
      <p:sp>
        <p:nvSpPr>
          <p:cNvPr id="75" name="Text 73"/>
          <p:cNvSpPr/>
          <p:nvPr/>
        </p:nvSpPr>
        <p:spPr>
          <a:xfrm>
            <a:off x="8732520" y="6574536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11292840" y="657453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FFFFFF"/>
                </a:solidFill>
                <a:latin typeface="Arial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竞争格局：传统院所占据存量，民营系统供应商获取增量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84280" cy="0"/>
          </a:xfrm>
          <a:prstGeom prst="line">
            <a:avLst/>
          </a:prstGeom>
          <a:noFill/>
          <a:ln w="15240">
            <a:solidFill>
              <a:srgbClr val="2D44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11384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4727A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市场仍由传统航天体系主导，但商业星座的低成本、快速交付需求为民营系统级供应商创造进入窗口。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965960" cy="292608"/>
          </a:xfrm>
          <a:prstGeom prst="rect">
            <a:avLst/>
          </a:prstGeom>
          <a:solidFill>
            <a:srgbClr val="2D4453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39496" y="1179576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海外成熟龙头</a:t>
            </a:r>
            <a:endParaRPr lang="en-US" sz="87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965960" cy="932688"/>
          </a:xfrm>
          <a:prstGeom prst="rect">
            <a:avLst/>
          </a:prstGeom>
          <a:solidFill>
            <a:srgbClr val="DCE8EE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39496" y="1517904"/>
            <a:ext cx="18928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Spectrolab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SolAero / Rocket Lab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AZUR Space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Redwire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2807208" y="1143000"/>
            <a:ext cx="1965960" cy="292608"/>
          </a:xfrm>
          <a:prstGeom prst="rect">
            <a:avLst/>
          </a:prstGeom>
          <a:solidFill>
            <a:srgbClr val="2D4453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843784" y="1179576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国内院所/央企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2807208" y="1481328"/>
            <a:ext cx="1965960" cy="932688"/>
          </a:xfrm>
          <a:prstGeom prst="rect">
            <a:avLst/>
          </a:prstGeom>
          <a:solidFill>
            <a:srgbClr val="CDE0DC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843784" y="1517904"/>
            <a:ext cx="18928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811所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电科蓝天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513所等航天院所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5111496" y="1143000"/>
            <a:ext cx="1965960" cy="292608"/>
          </a:xfrm>
          <a:prstGeom prst="rect">
            <a:avLst/>
          </a:prstGeom>
          <a:solidFill>
            <a:srgbClr val="2D4453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148072" y="1179576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上游电池/材料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5111496" y="1481328"/>
            <a:ext cx="1965960" cy="932688"/>
          </a:xfrm>
          <a:prstGeom prst="rect">
            <a:avLst/>
          </a:prstGeom>
          <a:solidFill>
            <a:srgbClr val="DCE8EE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148072" y="1517904"/>
            <a:ext cx="18928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乾照光电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东方日升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福斯特/金晶科技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7415784" y="1143000"/>
            <a:ext cx="1965960" cy="292608"/>
          </a:xfrm>
          <a:prstGeom prst="rect">
            <a:avLst/>
          </a:prstGeom>
          <a:solidFill>
            <a:srgbClr val="2D4453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452360" y="1179576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民营系统供应商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7415784" y="1481328"/>
            <a:ext cx="1965960" cy="932688"/>
          </a:xfrm>
          <a:prstGeom prst="rect">
            <a:avLst/>
          </a:prstGeom>
          <a:solidFill>
            <a:srgbClr val="CDE0DC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452360" y="1517904"/>
            <a:ext cx="18928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馥昶空间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上海港湾空间业务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其他商业航天供应商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9720072" y="1143000"/>
            <a:ext cx="1965960" cy="292608"/>
          </a:xfrm>
          <a:prstGeom prst="rect">
            <a:avLst/>
          </a:prstGeom>
          <a:solidFill>
            <a:srgbClr val="2D4453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756648" y="1179576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卫星厂商自研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9720072" y="1481328"/>
            <a:ext cx="1965960" cy="932688"/>
          </a:xfrm>
          <a:prstGeom prst="rect">
            <a:avLst/>
          </a:prstGeom>
          <a:solidFill>
            <a:srgbClr val="DCE8EE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756648" y="1517904"/>
            <a:ext cx="18928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SpaceX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银河航天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大型星座运营商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566928" y="2761488"/>
            <a:ext cx="29260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目标客户筛选矩阵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566928" y="3072384"/>
            <a:ext cx="1417320" cy="310896"/>
          </a:xfrm>
          <a:prstGeom prst="rect">
            <a:avLst/>
          </a:prstGeom>
          <a:solidFill>
            <a:srgbClr val="2D4453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03504" y="3108960"/>
            <a:ext cx="1344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公司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1984248" y="3072384"/>
            <a:ext cx="1188720" cy="310896"/>
          </a:xfrm>
          <a:prstGeom prst="rect">
            <a:avLst/>
          </a:prstGeom>
          <a:solidFill>
            <a:srgbClr val="2D4453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2020824" y="310896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行业纯度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3172968" y="3072384"/>
            <a:ext cx="1188720" cy="310896"/>
          </a:xfrm>
          <a:prstGeom prst="rect">
            <a:avLst/>
          </a:prstGeom>
          <a:solidFill>
            <a:srgbClr val="2D4453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3209544" y="310896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系统能力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4361688" y="3072384"/>
            <a:ext cx="1188720" cy="310896"/>
          </a:xfrm>
          <a:prstGeom prst="rect">
            <a:avLst/>
          </a:prstGeom>
          <a:solidFill>
            <a:srgbClr val="2D4453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4398264" y="310896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外部客户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5550408" y="3072384"/>
            <a:ext cx="1188720" cy="310896"/>
          </a:xfrm>
          <a:prstGeom prst="rect">
            <a:avLst/>
          </a:prstGeom>
          <a:solidFill>
            <a:srgbClr val="2D4453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5586984" y="310896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在轨验证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6739128" y="3072384"/>
            <a:ext cx="1417320" cy="310896"/>
          </a:xfrm>
          <a:prstGeom prst="rect">
            <a:avLst/>
          </a:prstGeom>
          <a:solidFill>
            <a:srgbClr val="2D4453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775704" y="3108960"/>
            <a:ext cx="1344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资本窗口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8156448" y="3072384"/>
            <a:ext cx="2011680" cy="310896"/>
          </a:xfrm>
          <a:prstGeom prst="rect">
            <a:avLst/>
          </a:prstGeom>
          <a:solidFill>
            <a:srgbClr val="2D4453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8193024" y="3108960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判断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566928" y="3383280"/>
            <a:ext cx="1417320" cy="411480"/>
          </a:xfrm>
          <a:prstGeom prst="rect">
            <a:avLst/>
          </a:prstGeom>
          <a:solidFill>
            <a:srgbClr val="F4F7F8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603504" y="3419856"/>
            <a:ext cx="13441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电科蓝天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1984248" y="3383280"/>
            <a:ext cx="1188720" cy="411480"/>
          </a:xfrm>
          <a:prstGeom prst="rect">
            <a:avLst/>
          </a:prstGeom>
          <a:solidFill>
            <a:srgbClr val="F4F7F8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2020824" y="3419856"/>
            <a:ext cx="1115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高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3172968" y="3383280"/>
            <a:ext cx="1188720" cy="411480"/>
          </a:xfrm>
          <a:prstGeom prst="rect">
            <a:avLst/>
          </a:prstGeom>
          <a:solidFill>
            <a:srgbClr val="F4F7F8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3209544" y="3419856"/>
            <a:ext cx="1115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强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4361688" y="3383280"/>
            <a:ext cx="1188720" cy="411480"/>
          </a:xfrm>
          <a:prstGeom prst="rect">
            <a:avLst/>
          </a:prstGeom>
          <a:solidFill>
            <a:srgbClr val="F4F7F8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4398264" y="3419856"/>
            <a:ext cx="1115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强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5550408" y="3383280"/>
            <a:ext cx="1188720" cy="411480"/>
          </a:xfrm>
          <a:prstGeom prst="rect">
            <a:avLst/>
          </a:prstGeom>
          <a:solidFill>
            <a:srgbClr val="F4F7F8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5586984" y="3419856"/>
            <a:ext cx="1115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强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6739128" y="3383280"/>
            <a:ext cx="1417320" cy="411480"/>
          </a:xfrm>
          <a:prstGeom prst="rect">
            <a:avLst/>
          </a:prstGeom>
          <a:solidFill>
            <a:srgbClr val="F4F7F8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6775704" y="3419856"/>
            <a:ext cx="13441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较低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8156448" y="3383280"/>
            <a:ext cx="2011680" cy="411480"/>
          </a:xfrm>
          <a:prstGeom prst="rect">
            <a:avLst/>
          </a:prstGeom>
          <a:solidFill>
            <a:srgbClr val="F4F7F8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8193024" y="3419856"/>
            <a:ext cx="1938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规模最大，跨境执行复杂</a:t>
            </a:r>
            <a:endParaRPr lang="en-US" sz="780" dirty="0"/>
          </a:p>
        </p:txBody>
      </p:sp>
      <p:sp>
        <p:nvSpPr>
          <p:cNvPr id="54" name="Shape 52"/>
          <p:cNvSpPr/>
          <p:nvPr/>
        </p:nvSpPr>
        <p:spPr>
          <a:xfrm>
            <a:off x="566928" y="3794760"/>
            <a:ext cx="1417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603504" y="3831336"/>
            <a:ext cx="13441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银河航天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1984248" y="3794760"/>
            <a:ext cx="1188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2020824" y="3831336"/>
            <a:ext cx="1115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中</a:t>
            </a:r>
            <a:endParaRPr lang="en-US" sz="780" dirty="0"/>
          </a:p>
        </p:txBody>
      </p:sp>
      <p:sp>
        <p:nvSpPr>
          <p:cNvPr id="58" name="Shape 56"/>
          <p:cNvSpPr/>
          <p:nvPr/>
        </p:nvSpPr>
        <p:spPr>
          <a:xfrm>
            <a:off x="3172968" y="3794760"/>
            <a:ext cx="1188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3209544" y="3831336"/>
            <a:ext cx="1115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中</a:t>
            </a:r>
            <a:endParaRPr lang="en-US" sz="780" dirty="0"/>
          </a:p>
        </p:txBody>
      </p:sp>
      <p:sp>
        <p:nvSpPr>
          <p:cNvPr id="60" name="Shape 58"/>
          <p:cNvSpPr/>
          <p:nvPr/>
        </p:nvSpPr>
        <p:spPr>
          <a:xfrm>
            <a:off x="4361688" y="3794760"/>
            <a:ext cx="1188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4398264" y="3831336"/>
            <a:ext cx="1115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弱</a:t>
            </a:r>
            <a:endParaRPr lang="en-US" sz="780" dirty="0"/>
          </a:p>
        </p:txBody>
      </p:sp>
      <p:sp>
        <p:nvSpPr>
          <p:cNvPr id="62" name="Shape 60"/>
          <p:cNvSpPr/>
          <p:nvPr/>
        </p:nvSpPr>
        <p:spPr>
          <a:xfrm>
            <a:off x="5550408" y="3794760"/>
            <a:ext cx="1188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5586984" y="3831336"/>
            <a:ext cx="1115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强</a:t>
            </a:r>
            <a:endParaRPr lang="en-US" sz="780" dirty="0"/>
          </a:p>
        </p:txBody>
      </p:sp>
      <p:sp>
        <p:nvSpPr>
          <p:cNvPr id="64" name="Shape 62"/>
          <p:cNvSpPr/>
          <p:nvPr/>
        </p:nvSpPr>
        <p:spPr>
          <a:xfrm>
            <a:off x="6739128" y="3794760"/>
            <a:ext cx="1417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63"/>
          <p:cNvSpPr/>
          <p:nvPr/>
        </p:nvSpPr>
        <p:spPr>
          <a:xfrm>
            <a:off x="6775704" y="3831336"/>
            <a:ext cx="13441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中</a:t>
            </a:r>
            <a:endParaRPr lang="en-US" sz="780" dirty="0"/>
          </a:p>
        </p:txBody>
      </p:sp>
      <p:sp>
        <p:nvSpPr>
          <p:cNvPr id="66" name="Shape 64"/>
          <p:cNvSpPr/>
          <p:nvPr/>
        </p:nvSpPr>
        <p:spPr>
          <a:xfrm>
            <a:off x="8156448" y="3794760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Text 65"/>
          <p:cNvSpPr/>
          <p:nvPr/>
        </p:nvSpPr>
        <p:spPr>
          <a:xfrm>
            <a:off x="8193024" y="3831336"/>
            <a:ext cx="1938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太阳翼偏内部子系统</a:t>
            </a:r>
            <a:endParaRPr lang="en-US" sz="780" dirty="0"/>
          </a:p>
        </p:txBody>
      </p:sp>
      <p:sp>
        <p:nvSpPr>
          <p:cNvPr id="68" name="Shape 66"/>
          <p:cNvSpPr/>
          <p:nvPr/>
        </p:nvSpPr>
        <p:spPr>
          <a:xfrm>
            <a:off x="566928" y="4206240"/>
            <a:ext cx="1417320" cy="411480"/>
          </a:xfrm>
          <a:prstGeom prst="rect">
            <a:avLst/>
          </a:prstGeom>
          <a:solidFill>
            <a:srgbClr val="F4F7F8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Text 67"/>
          <p:cNvSpPr/>
          <p:nvPr/>
        </p:nvSpPr>
        <p:spPr>
          <a:xfrm>
            <a:off x="603504" y="4242816"/>
            <a:ext cx="13441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乾照光电</a:t>
            </a:r>
            <a:endParaRPr lang="en-US" sz="780" dirty="0"/>
          </a:p>
        </p:txBody>
      </p:sp>
      <p:sp>
        <p:nvSpPr>
          <p:cNvPr id="70" name="Shape 68"/>
          <p:cNvSpPr/>
          <p:nvPr/>
        </p:nvSpPr>
        <p:spPr>
          <a:xfrm>
            <a:off x="1984248" y="4206240"/>
            <a:ext cx="1188720" cy="411480"/>
          </a:xfrm>
          <a:prstGeom prst="rect">
            <a:avLst/>
          </a:prstGeom>
          <a:solidFill>
            <a:srgbClr val="F4F7F8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Text 69"/>
          <p:cNvSpPr/>
          <p:nvPr/>
        </p:nvSpPr>
        <p:spPr>
          <a:xfrm>
            <a:off x="2020824" y="4242816"/>
            <a:ext cx="1115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中</a:t>
            </a:r>
            <a:endParaRPr lang="en-US" sz="780" dirty="0"/>
          </a:p>
        </p:txBody>
      </p:sp>
      <p:sp>
        <p:nvSpPr>
          <p:cNvPr id="72" name="Shape 70"/>
          <p:cNvSpPr/>
          <p:nvPr/>
        </p:nvSpPr>
        <p:spPr>
          <a:xfrm>
            <a:off x="3172968" y="4206240"/>
            <a:ext cx="1188720" cy="411480"/>
          </a:xfrm>
          <a:prstGeom prst="rect">
            <a:avLst/>
          </a:prstGeom>
          <a:solidFill>
            <a:srgbClr val="F4F7F8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Text 71"/>
          <p:cNvSpPr/>
          <p:nvPr/>
        </p:nvSpPr>
        <p:spPr>
          <a:xfrm>
            <a:off x="3209544" y="4242816"/>
            <a:ext cx="1115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上游</a:t>
            </a:r>
            <a:endParaRPr lang="en-US" sz="780" dirty="0"/>
          </a:p>
        </p:txBody>
      </p:sp>
      <p:sp>
        <p:nvSpPr>
          <p:cNvPr id="74" name="Shape 72"/>
          <p:cNvSpPr/>
          <p:nvPr/>
        </p:nvSpPr>
        <p:spPr>
          <a:xfrm>
            <a:off x="4361688" y="4206240"/>
            <a:ext cx="1188720" cy="411480"/>
          </a:xfrm>
          <a:prstGeom prst="rect">
            <a:avLst/>
          </a:prstGeom>
          <a:solidFill>
            <a:srgbClr val="F4F7F8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Text 73"/>
          <p:cNvSpPr/>
          <p:nvPr/>
        </p:nvSpPr>
        <p:spPr>
          <a:xfrm>
            <a:off x="4398264" y="4242816"/>
            <a:ext cx="1115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有</a:t>
            </a:r>
            <a:endParaRPr lang="en-US" sz="780" dirty="0"/>
          </a:p>
        </p:txBody>
      </p:sp>
      <p:sp>
        <p:nvSpPr>
          <p:cNvPr id="76" name="Shape 74"/>
          <p:cNvSpPr/>
          <p:nvPr/>
        </p:nvSpPr>
        <p:spPr>
          <a:xfrm>
            <a:off x="5550408" y="4206240"/>
            <a:ext cx="1188720" cy="411480"/>
          </a:xfrm>
          <a:prstGeom prst="rect">
            <a:avLst/>
          </a:prstGeom>
          <a:solidFill>
            <a:srgbClr val="F4F7F8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Text 75"/>
          <p:cNvSpPr/>
          <p:nvPr/>
        </p:nvSpPr>
        <p:spPr>
          <a:xfrm>
            <a:off x="5586984" y="4242816"/>
            <a:ext cx="1115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有</a:t>
            </a:r>
            <a:endParaRPr lang="en-US" sz="780" dirty="0"/>
          </a:p>
        </p:txBody>
      </p:sp>
      <p:sp>
        <p:nvSpPr>
          <p:cNvPr id="78" name="Shape 76"/>
          <p:cNvSpPr/>
          <p:nvPr/>
        </p:nvSpPr>
        <p:spPr>
          <a:xfrm>
            <a:off x="6739128" y="4206240"/>
            <a:ext cx="1417320" cy="411480"/>
          </a:xfrm>
          <a:prstGeom prst="rect">
            <a:avLst/>
          </a:prstGeom>
          <a:solidFill>
            <a:srgbClr val="F4F7F8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" name="Text 77"/>
          <p:cNvSpPr/>
          <p:nvPr/>
        </p:nvSpPr>
        <p:spPr>
          <a:xfrm>
            <a:off x="6775704" y="4242816"/>
            <a:ext cx="13441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较低</a:t>
            </a:r>
            <a:endParaRPr lang="en-US" sz="780" dirty="0"/>
          </a:p>
        </p:txBody>
      </p:sp>
      <p:sp>
        <p:nvSpPr>
          <p:cNvPr id="80" name="Shape 78"/>
          <p:cNvSpPr/>
          <p:nvPr/>
        </p:nvSpPr>
        <p:spPr>
          <a:xfrm>
            <a:off x="8156448" y="4206240"/>
            <a:ext cx="2011680" cy="411480"/>
          </a:xfrm>
          <a:prstGeom prst="rect">
            <a:avLst/>
          </a:prstGeom>
          <a:solidFill>
            <a:srgbClr val="F4F7F8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Text 79"/>
          <p:cNvSpPr/>
          <p:nvPr/>
        </p:nvSpPr>
        <p:spPr>
          <a:xfrm>
            <a:off x="8193024" y="4242816"/>
            <a:ext cx="1938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太空业务非集团核心</a:t>
            </a:r>
            <a:endParaRPr lang="en-US" sz="780" dirty="0"/>
          </a:p>
        </p:txBody>
      </p:sp>
      <p:sp>
        <p:nvSpPr>
          <p:cNvPr id="82" name="Shape 80"/>
          <p:cNvSpPr/>
          <p:nvPr/>
        </p:nvSpPr>
        <p:spPr>
          <a:xfrm>
            <a:off x="566928" y="4617720"/>
            <a:ext cx="1417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Text 81"/>
          <p:cNvSpPr/>
          <p:nvPr/>
        </p:nvSpPr>
        <p:spPr>
          <a:xfrm>
            <a:off x="603504" y="4654296"/>
            <a:ext cx="13441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上海港湾</a:t>
            </a:r>
            <a:endParaRPr lang="en-US" sz="780" dirty="0"/>
          </a:p>
        </p:txBody>
      </p:sp>
      <p:sp>
        <p:nvSpPr>
          <p:cNvPr id="84" name="Shape 82"/>
          <p:cNvSpPr/>
          <p:nvPr/>
        </p:nvSpPr>
        <p:spPr>
          <a:xfrm>
            <a:off x="1984248" y="4617720"/>
            <a:ext cx="1188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Text 83"/>
          <p:cNvSpPr/>
          <p:nvPr/>
        </p:nvSpPr>
        <p:spPr>
          <a:xfrm>
            <a:off x="2020824" y="4654296"/>
            <a:ext cx="1115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中</a:t>
            </a:r>
            <a:endParaRPr lang="en-US" sz="780" dirty="0"/>
          </a:p>
        </p:txBody>
      </p:sp>
      <p:sp>
        <p:nvSpPr>
          <p:cNvPr id="86" name="Shape 84"/>
          <p:cNvSpPr/>
          <p:nvPr/>
        </p:nvSpPr>
        <p:spPr>
          <a:xfrm>
            <a:off x="3172968" y="4617720"/>
            <a:ext cx="1188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7" name="Text 85"/>
          <p:cNvSpPr/>
          <p:nvPr/>
        </p:nvSpPr>
        <p:spPr>
          <a:xfrm>
            <a:off x="3209544" y="4654296"/>
            <a:ext cx="1115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有</a:t>
            </a:r>
            <a:endParaRPr lang="en-US" sz="780" dirty="0"/>
          </a:p>
        </p:txBody>
      </p:sp>
      <p:sp>
        <p:nvSpPr>
          <p:cNvPr id="88" name="Shape 86"/>
          <p:cNvSpPr/>
          <p:nvPr/>
        </p:nvSpPr>
        <p:spPr>
          <a:xfrm>
            <a:off x="4361688" y="4617720"/>
            <a:ext cx="1188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9" name="Text 87"/>
          <p:cNvSpPr/>
          <p:nvPr/>
        </p:nvSpPr>
        <p:spPr>
          <a:xfrm>
            <a:off x="4398264" y="4654296"/>
            <a:ext cx="1115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初期</a:t>
            </a:r>
            <a:endParaRPr lang="en-US" sz="780" dirty="0"/>
          </a:p>
        </p:txBody>
      </p:sp>
      <p:sp>
        <p:nvSpPr>
          <p:cNvPr id="90" name="Shape 88"/>
          <p:cNvSpPr/>
          <p:nvPr/>
        </p:nvSpPr>
        <p:spPr>
          <a:xfrm>
            <a:off x="5550408" y="4617720"/>
            <a:ext cx="1188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" name="Text 89"/>
          <p:cNvSpPr/>
          <p:nvPr/>
        </p:nvSpPr>
        <p:spPr>
          <a:xfrm>
            <a:off x="5586984" y="4654296"/>
            <a:ext cx="1115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有</a:t>
            </a:r>
            <a:endParaRPr lang="en-US" sz="780" dirty="0"/>
          </a:p>
        </p:txBody>
      </p:sp>
      <p:sp>
        <p:nvSpPr>
          <p:cNvPr id="92" name="Shape 90"/>
          <p:cNvSpPr/>
          <p:nvPr/>
        </p:nvSpPr>
        <p:spPr>
          <a:xfrm>
            <a:off x="6739128" y="4617720"/>
            <a:ext cx="1417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Text 91"/>
          <p:cNvSpPr/>
          <p:nvPr/>
        </p:nvSpPr>
        <p:spPr>
          <a:xfrm>
            <a:off x="6775704" y="4654296"/>
            <a:ext cx="13441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中</a:t>
            </a:r>
            <a:endParaRPr lang="en-US" sz="780" dirty="0"/>
          </a:p>
        </p:txBody>
      </p:sp>
      <p:sp>
        <p:nvSpPr>
          <p:cNvPr id="94" name="Shape 92"/>
          <p:cNvSpPr/>
          <p:nvPr/>
        </p:nvSpPr>
        <p:spPr>
          <a:xfrm>
            <a:off x="8156448" y="4617720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Text 93"/>
          <p:cNvSpPr/>
          <p:nvPr/>
        </p:nvSpPr>
        <p:spPr>
          <a:xfrm>
            <a:off x="8193024" y="4654296"/>
            <a:ext cx="1938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母公司主业差异较大</a:t>
            </a:r>
            <a:endParaRPr lang="en-US" sz="780" dirty="0"/>
          </a:p>
        </p:txBody>
      </p:sp>
      <p:sp>
        <p:nvSpPr>
          <p:cNvPr id="96" name="Shape 94"/>
          <p:cNvSpPr/>
          <p:nvPr/>
        </p:nvSpPr>
        <p:spPr>
          <a:xfrm>
            <a:off x="566928" y="5029200"/>
            <a:ext cx="1417320" cy="411480"/>
          </a:xfrm>
          <a:prstGeom prst="rect">
            <a:avLst/>
          </a:prstGeom>
          <a:solidFill>
            <a:srgbClr val="F4E8EA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Text 95"/>
          <p:cNvSpPr/>
          <p:nvPr/>
        </p:nvSpPr>
        <p:spPr>
          <a:xfrm>
            <a:off x="603504" y="5065776"/>
            <a:ext cx="13441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馥昶空间</a:t>
            </a:r>
            <a:endParaRPr lang="en-US" sz="780" dirty="0"/>
          </a:p>
        </p:txBody>
      </p:sp>
      <p:sp>
        <p:nvSpPr>
          <p:cNvPr id="98" name="Shape 96"/>
          <p:cNvSpPr/>
          <p:nvPr/>
        </p:nvSpPr>
        <p:spPr>
          <a:xfrm>
            <a:off x="1984248" y="5029200"/>
            <a:ext cx="1188720" cy="411480"/>
          </a:xfrm>
          <a:prstGeom prst="rect">
            <a:avLst/>
          </a:prstGeom>
          <a:solidFill>
            <a:srgbClr val="F4E8EA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Text 97"/>
          <p:cNvSpPr/>
          <p:nvPr/>
        </p:nvSpPr>
        <p:spPr>
          <a:xfrm>
            <a:off x="2020824" y="5065776"/>
            <a:ext cx="1115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高</a:t>
            </a:r>
            <a:endParaRPr lang="en-US" sz="780" dirty="0"/>
          </a:p>
        </p:txBody>
      </p:sp>
      <p:sp>
        <p:nvSpPr>
          <p:cNvPr id="100" name="Shape 98"/>
          <p:cNvSpPr/>
          <p:nvPr/>
        </p:nvSpPr>
        <p:spPr>
          <a:xfrm>
            <a:off x="3172968" y="5029200"/>
            <a:ext cx="1188720" cy="411480"/>
          </a:xfrm>
          <a:prstGeom prst="rect">
            <a:avLst/>
          </a:prstGeom>
          <a:solidFill>
            <a:srgbClr val="F4E8EA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Text 99"/>
          <p:cNvSpPr/>
          <p:nvPr/>
        </p:nvSpPr>
        <p:spPr>
          <a:xfrm>
            <a:off x="3209544" y="5065776"/>
            <a:ext cx="1115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完整</a:t>
            </a:r>
            <a:endParaRPr lang="en-US" sz="780" dirty="0"/>
          </a:p>
        </p:txBody>
      </p:sp>
      <p:sp>
        <p:nvSpPr>
          <p:cNvPr id="102" name="Shape 100"/>
          <p:cNvSpPr/>
          <p:nvPr/>
        </p:nvSpPr>
        <p:spPr>
          <a:xfrm>
            <a:off x="4361688" y="5029200"/>
            <a:ext cx="1188720" cy="411480"/>
          </a:xfrm>
          <a:prstGeom prst="rect">
            <a:avLst/>
          </a:prstGeom>
          <a:solidFill>
            <a:srgbClr val="F4E8EA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Text 101"/>
          <p:cNvSpPr/>
          <p:nvPr/>
        </p:nvSpPr>
        <p:spPr>
          <a:xfrm>
            <a:off x="4398264" y="5065776"/>
            <a:ext cx="1115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强</a:t>
            </a:r>
            <a:endParaRPr lang="en-US" sz="780" dirty="0"/>
          </a:p>
        </p:txBody>
      </p:sp>
      <p:sp>
        <p:nvSpPr>
          <p:cNvPr id="104" name="Shape 102"/>
          <p:cNvSpPr/>
          <p:nvPr/>
        </p:nvSpPr>
        <p:spPr>
          <a:xfrm>
            <a:off x="5550408" y="5029200"/>
            <a:ext cx="1188720" cy="411480"/>
          </a:xfrm>
          <a:prstGeom prst="rect">
            <a:avLst/>
          </a:prstGeom>
          <a:solidFill>
            <a:srgbClr val="F4E8EA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" name="Text 103"/>
          <p:cNvSpPr/>
          <p:nvPr/>
        </p:nvSpPr>
        <p:spPr>
          <a:xfrm>
            <a:off x="5586984" y="5065776"/>
            <a:ext cx="1115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强</a:t>
            </a:r>
            <a:endParaRPr lang="en-US" sz="780" dirty="0"/>
          </a:p>
        </p:txBody>
      </p:sp>
      <p:sp>
        <p:nvSpPr>
          <p:cNvPr id="106" name="Shape 104"/>
          <p:cNvSpPr/>
          <p:nvPr/>
        </p:nvSpPr>
        <p:spPr>
          <a:xfrm>
            <a:off x="6739128" y="5029200"/>
            <a:ext cx="1417320" cy="411480"/>
          </a:xfrm>
          <a:prstGeom prst="rect">
            <a:avLst/>
          </a:prstGeom>
          <a:solidFill>
            <a:srgbClr val="F4E8EA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" name="Text 105"/>
          <p:cNvSpPr/>
          <p:nvPr/>
        </p:nvSpPr>
        <p:spPr>
          <a:xfrm>
            <a:off x="6775704" y="5065776"/>
            <a:ext cx="13441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高</a:t>
            </a:r>
            <a:endParaRPr lang="en-US" sz="780" dirty="0"/>
          </a:p>
        </p:txBody>
      </p:sp>
      <p:sp>
        <p:nvSpPr>
          <p:cNvPr id="108" name="Shape 106"/>
          <p:cNvSpPr/>
          <p:nvPr/>
        </p:nvSpPr>
        <p:spPr>
          <a:xfrm>
            <a:off x="8156448" y="5029200"/>
            <a:ext cx="2011680" cy="411480"/>
          </a:xfrm>
          <a:prstGeom prst="rect">
            <a:avLst/>
          </a:prstGeom>
          <a:solidFill>
            <a:srgbClr val="F4E8EA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" name="Text 107"/>
          <p:cNvSpPr/>
          <p:nvPr/>
        </p:nvSpPr>
        <p:spPr>
          <a:xfrm>
            <a:off x="8193024" y="5065776"/>
            <a:ext cx="1938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民营pure-play，最具可执行性</a:t>
            </a:r>
            <a:endParaRPr lang="en-US" sz="780" dirty="0"/>
          </a:p>
        </p:txBody>
      </p:sp>
      <p:sp>
        <p:nvSpPr>
          <p:cNvPr id="110" name="Shape 108"/>
          <p:cNvSpPr/>
          <p:nvPr/>
        </p:nvSpPr>
        <p:spPr>
          <a:xfrm>
            <a:off x="566928" y="5440680"/>
            <a:ext cx="10972800" cy="438912"/>
          </a:xfrm>
          <a:prstGeom prst="rect">
            <a:avLst/>
          </a:prstGeom>
          <a:solidFill>
            <a:srgbClr val="F5F7F8"/>
          </a:solidFill>
          <a:ln w="12700">
            <a:solidFill>
              <a:srgbClr val="BFCA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1" name="Text 109"/>
          <p:cNvSpPr/>
          <p:nvPr/>
        </p:nvSpPr>
        <p:spPr>
          <a:xfrm>
            <a:off x="749808" y="5596128"/>
            <a:ext cx="1051560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2D4453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选择结论：馥昶空间同时具备行业纯度、完整系统能力、外部客户与在轨验证，并仍处私人融资阶段，是JPM较容易建立早期关系的潜在客户。</a:t>
            </a:r>
            <a:endParaRPr lang="en-US" sz="960" dirty="0"/>
          </a:p>
        </p:txBody>
      </p:sp>
      <p:sp>
        <p:nvSpPr>
          <p:cNvPr id="112" name="Text 110"/>
          <p:cNvSpPr/>
          <p:nvPr/>
        </p:nvSpPr>
        <p:spPr>
          <a:xfrm>
            <a:off x="411480" y="6181344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27A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资料来源：正点财经《太空光伏行业深度》；电科蓝天IPO审核问询回复；各公司官网。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0" y="6483096"/>
            <a:ext cx="12191695" cy="374904"/>
          </a:xfrm>
          <a:prstGeom prst="rect">
            <a:avLst/>
          </a:prstGeom>
          <a:solidFill>
            <a:srgbClr val="2D4453"/>
          </a:solidFill>
          <a:ln w="12700">
            <a:solidFill>
              <a:srgbClr val="2D44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4" name="Text 112"/>
          <p:cNvSpPr/>
          <p:nvPr/>
        </p:nvSpPr>
        <p:spPr>
          <a:xfrm>
            <a:off x="347472" y="65745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J.P. MORGAN  Natural Resources</a:t>
            </a:r>
            <a:endParaRPr lang="en-US" sz="880" dirty="0"/>
          </a:p>
        </p:txBody>
      </p:sp>
      <p:sp>
        <p:nvSpPr>
          <p:cNvPr id="115" name="Text 113"/>
          <p:cNvSpPr/>
          <p:nvPr/>
        </p:nvSpPr>
        <p:spPr>
          <a:xfrm>
            <a:off x="8732520" y="6574536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116" name="Text 114"/>
          <p:cNvSpPr/>
          <p:nvPr/>
        </p:nvSpPr>
        <p:spPr>
          <a:xfrm>
            <a:off x="11292840" y="657453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FFFFFF"/>
                </a:solidFill>
                <a:latin typeface="Arial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  <a:latin typeface="LF_Kai"/>
              </a:rPr>
              <a:t>目标客户筛选矩阵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B6D7D"/>
                </a:solidFill>
                <a:latin typeface="LF_Kai"/>
              </a:rPr>
              <a:t>在可比相关公司中，馥昶空间在行业纯度、系统能力、商业验证与资本市场切入窗口之间形成最佳平衡。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0881360" cy="27432"/>
          </a:xfrm>
          <a:prstGeom prst="rect">
            <a:avLst/>
          </a:prstGeom>
          <a:solidFill>
            <a:srgbClr val="26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325880" cy="384048"/>
          </a:xfrm>
          <a:prstGeom prst="rect">
            <a:avLst/>
          </a:prstGeom>
          <a:solidFill>
            <a:srgbClr val="263A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53312"/>
            <a:ext cx="1325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LF_Kai"/>
              </a:rPr>
              <a:t>公司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325880"/>
            <a:ext cx="1097280" cy="384048"/>
          </a:xfrm>
          <a:prstGeom prst="rect">
            <a:avLst/>
          </a:prstGeom>
          <a:solidFill>
            <a:srgbClr val="263A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0" y="1353312"/>
            <a:ext cx="1097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LF_Kai"/>
              </a:rPr>
              <a:t>行业纯度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325880"/>
            <a:ext cx="1097280" cy="384048"/>
          </a:xfrm>
          <a:prstGeom prst="rect">
            <a:avLst/>
          </a:prstGeom>
          <a:solidFill>
            <a:srgbClr val="263A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0" y="1353312"/>
            <a:ext cx="1097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LF_Kai"/>
              </a:rPr>
              <a:t>系统能力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325880"/>
            <a:ext cx="1097280" cy="384048"/>
          </a:xfrm>
          <a:prstGeom prst="rect">
            <a:avLst/>
          </a:prstGeom>
          <a:solidFill>
            <a:srgbClr val="263A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23360" y="1353312"/>
            <a:ext cx="1097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LF_Kai"/>
              </a:rPr>
              <a:t>外部客户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1325880"/>
            <a:ext cx="1097280" cy="384048"/>
          </a:xfrm>
          <a:prstGeom prst="rect">
            <a:avLst/>
          </a:prstGeom>
          <a:solidFill>
            <a:srgbClr val="263A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0640" y="1353312"/>
            <a:ext cx="1097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LF_Kai"/>
              </a:rPr>
              <a:t>在轨验证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325880"/>
            <a:ext cx="1234440" cy="384048"/>
          </a:xfrm>
          <a:prstGeom prst="rect">
            <a:avLst/>
          </a:prstGeom>
          <a:solidFill>
            <a:srgbClr val="263A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1353312"/>
            <a:ext cx="12344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LF_Kai"/>
              </a:rPr>
              <a:t>资本窗口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60" y="1325880"/>
            <a:ext cx="3017520" cy="384048"/>
          </a:xfrm>
          <a:prstGeom prst="rect">
            <a:avLst/>
          </a:prstGeom>
          <a:solidFill>
            <a:srgbClr val="263A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52360" y="1353312"/>
            <a:ext cx="30175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LF_Kai"/>
              </a:rPr>
              <a:t>判断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709928"/>
            <a:ext cx="1325880" cy="475488"/>
          </a:xfrm>
          <a:prstGeom prst="rect">
            <a:avLst/>
          </a:prstGeom>
          <a:solidFill>
            <a:srgbClr val="F7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1737360"/>
            <a:ext cx="127101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LF_Kai"/>
              </a:rPr>
              <a:t>电科蓝天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1709928"/>
            <a:ext cx="1097280" cy="475488"/>
          </a:xfrm>
          <a:prstGeom prst="rect">
            <a:avLst/>
          </a:prstGeom>
          <a:solidFill>
            <a:srgbClr val="F7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56232" y="1737360"/>
            <a:ext cx="104241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32587A"/>
                </a:solidFill>
                <a:latin typeface="Arial"/>
              </a:rPr>
              <a:t>●●●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1709928"/>
            <a:ext cx="1097280" cy="475488"/>
          </a:xfrm>
          <a:prstGeom prst="rect">
            <a:avLst/>
          </a:prstGeom>
          <a:solidFill>
            <a:srgbClr val="F7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53512" y="1737360"/>
            <a:ext cx="104241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32587A"/>
                </a:solidFill>
                <a:latin typeface="Arial"/>
              </a:rPr>
              <a:t>●●●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23360" y="1709928"/>
            <a:ext cx="1097280" cy="475488"/>
          </a:xfrm>
          <a:prstGeom prst="rect">
            <a:avLst/>
          </a:prstGeom>
          <a:solidFill>
            <a:srgbClr val="F7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050792" y="1737360"/>
            <a:ext cx="104241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32587A"/>
                </a:solidFill>
                <a:latin typeface="Arial"/>
              </a:rPr>
              <a:t>●●●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0640" y="1709928"/>
            <a:ext cx="1097280" cy="475488"/>
          </a:xfrm>
          <a:prstGeom prst="rect">
            <a:avLst/>
          </a:prstGeom>
          <a:solidFill>
            <a:srgbClr val="F7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48072" y="1737360"/>
            <a:ext cx="104241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32587A"/>
                </a:solidFill>
                <a:latin typeface="Arial"/>
              </a:rPr>
              <a:t>●●●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709928"/>
            <a:ext cx="1234440" cy="475488"/>
          </a:xfrm>
          <a:prstGeom prst="rect">
            <a:avLst/>
          </a:prstGeom>
          <a:solidFill>
            <a:srgbClr val="F7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45352" y="1737360"/>
            <a:ext cx="11795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32587A"/>
                </a:solidFill>
                <a:latin typeface="Arial"/>
              </a:rPr>
              <a:t>●○○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52360" y="1709928"/>
            <a:ext cx="3017520" cy="475488"/>
          </a:xfrm>
          <a:prstGeom prst="rect">
            <a:avLst/>
          </a:prstGeom>
          <a:solidFill>
            <a:srgbClr val="F7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79792" y="1737360"/>
            <a:ext cx="296265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LF_Kai"/>
              </a:rPr>
              <a:t>规模最大；技术与客户基础最强，但跨境执行复杂、切入空间较低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2185416"/>
            <a:ext cx="13258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0352" y="2212848"/>
            <a:ext cx="127101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LF_Kai"/>
              </a:rPr>
              <a:t>银河航天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0" y="2185416"/>
            <a:ext cx="10972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56232" y="2212848"/>
            <a:ext cx="104241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32587A"/>
                </a:solidFill>
                <a:latin typeface="Arial"/>
              </a:rPr>
              <a:t>●●○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26080" y="2185416"/>
            <a:ext cx="10972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953512" y="2212848"/>
            <a:ext cx="104241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32587A"/>
                </a:solidFill>
                <a:latin typeface="Arial"/>
              </a:rPr>
              <a:t>●●○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23360" y="2185416"/>
            <a:ext cx="10972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050792" y="2212848"/>
            <a:ext cx="104241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32587A"/>
                </a:solidFill>
                <a:latin typeface="Arial"/>
              </a:rPr>
              <a:t>●○○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20640" y="2185416"/>
            <a:ext cx="10972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48072" y="2212848"/>
            <a:ext cx="104241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32587A"/>
                </a:solidFill>
                <a:latin typeface="Arial"/>
              </a:rPr>
              <a:t>●●●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2185416"/>
            <a:ext cx="12344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45352" y="2212848"/>
            <a:ext cx="11795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32587A"/>
                </a:solidFill>
                <a:latin typeface="Arial"/>
              </a:rPr>
              <a:t>●●○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52360" y="2185416"/>
            <a:ext cx="30175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479792" y="2212848"/>
            <a:ext cx="296265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LF_Kai"/>
              </a:rPr>
              <a:t>具备整星与太阳翼能力，但太空能源更多是内部配套，非独立pure-play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2660904"/>
            <a:ext cx="1325880" cy="475488"/>
          </a:xfrm>
          <a:prstGeom prst="rect">
            <a:avLst/>
          </a:prstGeom>
          <a:solidFill>
            <a:srgbClr val="F7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30352" y="2688336"/>
            <a:ext cx="127101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LF_Kai"/>
              </a:rPr>
              <a:t>乾照光电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28800" y="2660904"/>
            <a:ext cx="1097280" cy="475488"/>
          </a:xfrm>
          <a:prstGeom prst="rect">
            <a:avLst/>
          </a:prstGeom>
          <a:solidFill>
            <a:srgbClr val="F7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856232" y="2688336"/>
            <a:ext cx="104241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32587A"/>
                </a:solidFill>
                <a:latin typeface="Arial"/>
              </a:rPr>
              <a:t>●●○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26080" y="2660904"/>
            <a:ext cx="1097280" cy="475488"/>
          </a:xfrm>
          <a:prstGeom prst="rect">
            <a:avLst/>
          </a:prstGeom>
          <a:solidFill>
            <a:srgbClr val="F7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953512" y="2688336"/>
            <a:ext cx="104241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32587A"/>
                </a:solidFill>
                <a:latin typeface="Arial"/>
              </a:rPr>
              <a:t>●○○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023360" y="2660904"/>
            <a:ext cx="1097280" cy="475488"/>
          </a:xfrm>
          <a:prstGeom prst="rect">
            <a:avLst/>
          </a:prstGeom>
          <a:solidFill>
            <a:srgbClr val="F7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050792" y="2688336"/>
            <a:ext cx="104241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32587A"/>
                </a:solidFill>
                <a:latin typeface="Arial"/>
              </a:rPr>
              <a:t>●●○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20640" y="2660904"/>
            <a:ext cx="1097280" cy="475488"/>
          </a:xfrm>
          <a:prstGeom prst="rect">
            <a:avLst/>
          </a:prstGeom>
          <a:solidFill>
            <a:srgbClr val="F7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148072" y="2688336"/>
            <a:ext cx="104241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32587A"/>
                </a:solidFill>
                <a:latin typeface="Arial"/>
              </a:rPr>
              <a:t>●●○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2660904"/>
            <a:ext cx="1234440" cy="475488"/>
          </a:xfrm>
          <a:prstGeom prst="rect">
            <a:avLst/>
          </a:prstGeom>
          <a:solidFill>
            <a:srgbClr val="F7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45352" y="2688336"/>
            <a:ext cx="11795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32587A"/>
                </a:solidFill>
                <a:latin typeface="Arial"/>
              </a:rPr>
              <a:t>●○○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52360" y="2660904"/>
            <a:ext cx="3017520" cy="475488"/>
          </a:xfrm>
          <a:prstGeom prst="rect">
            <a:avLst/>
          </a:prstGeom>
          <a:solidFill>
            <a:srgbClr val="F7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479792" y="2688336"/>
            <a:ext cx="296265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LF_Kai"/>
              </a:rPr>
              <a:t>上游电池供应商；太空业务具技术含量，但并非集团核心叙事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3136392"/>
            <a:ext cx="13258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30352" y="3163824"/>
            <a:ext cx="127101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LF_Kai"/>
              </a:rPr>
              <a:t>上海港湾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0" y="3136392"/>
            <a:ext cx="10972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856232" y="3163824"/>
            <a:ext cx="104241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32587A"/>
                </a:solidFill>
                <a:latin typeface="Arial"/>
              </a:rPr>
              <a:t>●●○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26080" y="3136392"/>
            <a:ext cx="10972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953512" y="3163824"/>
            <a:ext cx="104241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32587A"/>
                </a:solidFill>
                <a:latin typeface="Arial"/>
              </a:rPr>
              <a:t>●●○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023360" y="3136392"/>
            <a:ext cx="10972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050792" y="3163824"/>
            <a:ext cx="104241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32587A"/>
                </a:solidFill>
                <a:latin typeface="Arial"/>
              </a:rPr>
              <a:t>●○○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120640" y="3136392"/>
            <a:ext cx="10972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148072" y="3163824"/>
            <a:ext cx="104241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32587A"/>
                </a:solidFill>
                <a:latin typeface="Arial"/>
              </a:rPr>
              <a:t>●●○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17920" y="3136392"/>
            <a:ext cx="12344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245352" y="3163824"/>
            <a:ext cx="11795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32587A"/>
                </a:solidFill>
                <a:latin typeface="Arial"/>
              </a:rPr>
              <a:t>●●○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452360" y="3136392"/>
            <a:ext cx="30175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479792" y="3163824"/>
            <a:ext cx="296265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LF_Kai"/>
              </a:rPr>
              <a:t>具备一定空间能源布局，但母公司主业相关性较弱，业务仍偏早期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2920" y="3611880"/>
            <a:ext cx="1325880" cy="475488"/>
          </a:xfrm>
          <a:prstGeom prst="rect">
            <a:avLst/>
          </a:prstGeom>
          <a:solidFill>
            <a:srgbClr val="F6EEF0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30352" y="3639312"/>
            <a:ext cx="127101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LF_Kai"/>
              </a:rPr>
              <a:t>馥昶空间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828800" y="3611880"/>
            <a:ext cx="1097280" cy="475488"/>
          </a:xfrm>
          <a:prstGeom prst="rect">
            <a:avLst/>
          </a:prstGeom>
          <a:solidFill>
            <a:srgbClr val="F6EEF0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856232" y="3639312"/>
            <a:ext cx="104241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B23E4F"/>
                </a:solidFill>
                <a:latin typeface="Arial"/>
              </a:rPr>
              <a:t>●●●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926080" y="3611880"/>
            <a:ext cx="1097280" cy="475488"/>
          </a:xfrm>
          <a:prstGeom prst="rect">
            <a:avLst/>
          </a:prstGeom>
          <a:solidFill>
            <a:srgbClr val="F6EEF0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953512" y="3639312"/>
            <a:ext cx="104241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B23E4F"/>
                </a:solidFill>
                <a:latin typeface="Arial"/>
              </a:rPr>
              <a:t>●●●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023360" y="3611880"/>
            <a:ext cx="1097280" cy="475488"/>
          </a:xfrm>
          <a:prstGeom prst="rect">
            <a:avLst/>
          </a:prstGeom>
          <a:solidFill>
            <a:srgbClr val="F6EEF0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050792" y="3639312"/>
            <a:ext cx="104241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B23E4F"/>
                </a:solidFill>
                <a:latin typeface="Arial"/>
              </a:rPr>
              <a:t>●●●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120640" y="3611880"/>
            <a:ext cx="1097280" cy="475488"/>
          </a:xfrm>
          <a:prstGeom prst="rect">
            <a:avLst/>
          </a:prstGeom>
          <a:solidFill>
            <a:srgbClr val="F6EEF0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148072" y="3639312"/>
            <a:ext cx="104241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B23E4F"/>
                </a:solidFill>
                <a:latin typeface="Arial"/>
              </a:rPr>
              <a:t>●●●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17920" y="3611880"/>
            <a:ext cx="1234440" cy="475488"/>
          </a:xfrm>
          <a:prstGeom prst="rect">
            <a:avLst/>
          </a:prstGeom>
          <a:solidFill>
            <a:srgbClr val="F6EEF0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245352" y="3639312"/>
            <a:ext cx="11795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B23E4F"/>
                </a:solidFill>
                <a:latin typeface="Arial"/>
              </a:rPr>
              <a:t>●●●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452360" y="3611880"/>
            <a:ext cx="3017520" cy="475488"/>
          </a:xfrm>
          <a:prstGeom prst="rect">
            <a:avLst/>
          </a:prstGeom>
          <a:solidFill>
            <a:srgbClr val="F6EEF0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7479792" y="3639312"/>
            <a:ext cx="296265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22222"/>
                </a:solidFill>
                <a:latin typeface="LF_Kai"/>
              </a:rPr>
              <a:t>民营pure-play；系统级能力完整，商业验证充分，最具capital markets actionability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6928" y="4041648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D7D"/>
                </a:solidFill>
                <a:latin typeface="LF_Kai"/>
              </a:rPr>
              <a:t>注：●●● = 高/强，●●○ = 中，●○○ = 低/弱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48640" y="4443984"/>
            <a:ext cx="10789920" cy="566928"/>
          </a:xfrm>
          <a:prstGeom prst="roundRect">
            <a:avLst/>
          </a:prstGeom>
          <a:solidFill>
            <a:srgbClr val="F7F9FB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13232" y="4553712"/>
            <a:ext cx="10424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LF_Kai"/>
              </a:rPr>
              <a:t>结论：相较于央企平台、卫星厂内部配套和上游零部件公司，馥昶空间兼具更高行业纯度、完整系统能力、已验证的商业配套记录，以及更明确的融资/IPO切入窗口。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48640" y="5138928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D7D"/>
                </a:solidFill>
                <a:latin typeface="LF_Kai"/>
              </a:rPr>
              <a:t>资料来源：公司官网、PitchBook、公开审核文件、公开媒体报道及团队整理。</a:t>
            </a:r>
          </a:p>
        </p:txBody>
      </p:sp>
      <p:sp>
        <p:nvSpPr>
          <p:cNvPr id="93" name="Rectangle 92"/>
          <p:cNvSpPr/>
          <p:nvPr/>
        </p:nvSpPr>
        <p:spPr>
          <a:xfrm>
            <a:off x="0" y="6601968"/>
            <a:ext cx="12192000" cy="256032"/>
          </a:xfrm>
          <a:prstGeom prst="rect">
            <a:avLst/>
          </a:prstGeom>
          <a:solidFill>
            <a:srgbClr val="26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02920" y="6656832"/>
            <a:ext cx="2286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Arial"/>
              </a:rPr>
              <a:t>J.P. MORGAN  Natural Resources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326880" y="6656832"/>
            <a:ext cx="1463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  <a:latin typeface="Arial"/>
              </a:rPr>
              <a:t>PRIVATE &amp; CONFIDENTIAL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972800" y="6656832"/>
            <a:ext cx="320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为什么是馥昶空间：完整产品能力与规模化在轨验证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84280" cy="0"/>
          </a:xfrm>
          <a:prstGeom prst="line">
            <a:avLst/>
          </a:prstGeom>
          <a:noFill/>
          <a:ln w="15240">
            <a:solidFill>
              <a:srgbClr val="2D44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11384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4727A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公司不是实验室阶段，而是已经具备外部客户、批量配套和系统级产品矩阵的民营卫星电源供应商。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41732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BFCA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12648" y="11887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4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60+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21792" y="1508760"/>
            <a:ext cx="1307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27A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国内外卫星总体单位客户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240280" y="1115568"/>
            <a:ext cx="141732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BFCA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286000" y="11887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F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360+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295144" y="1508760"/>
            <a:ext cx="1307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27A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累计配套研制卫星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913632" y="1115568"/>
            <a:ext cx="141732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BFCA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959352" y="11887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9C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80+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968496" y="1508760"/>
            <a:ext cx="1307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27A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参与发射任务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586984" y="1115568"/>
            <a:ext cx="141732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BFCA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632704" y="11887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260+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641848" y="1508760"/>
            <a:ext cx="1307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27A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配套卫星在轨飞行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260336" y="1115568"/>
            <a:ext cx="141732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BFCA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306056" y="11887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39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B+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0" y="1508760"/>
            <a:ext cx="1307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27A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2026年完成新一轮融资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933688" y="1115568"/>
            <a:ext cx="141732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BFCA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979408" y="11887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4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$252m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988552" y="1508760"/>
            <a:ext cx="1307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27A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PitchBook估值模型参考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2240280"/>
            <a:ext cx="40233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产品矩阵覆盖完整卫星电源系统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566928" y="2587752"/>
            <a:ext cx="1691640" cy="347472"/>
          </a:xfrm>
          <a:prstGeom prst="rect">
            <a:avLst/>
          </a:prstGeom>
          <a:solidFill>
            <a:srgbClr val="DCE8EE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03504" y="2624328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三结砷化镓太阳电池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2441448" y="2587752"/>
            <a:ext cx="1691640" cy="347472"/>
          </a:xfrm>
          <a:prstGeom prst="rect">
            <a:avLst/>
          </a:prstGeom>
          <a:solidFill>
            <a:srgbClr val="DCE8EE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2478024" y="2624328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太阳电池阵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4315968" y="2587752"/>
            <a:ext cx="1691640" cy="347472"/>
          </a:xfrm>
          <a:prstGeom prst="rect">
            <a:avLst/>
          </a:prstGeom>
          <a:solidFill>
            <a:srgbClr val="DCE8EE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352544" y="2624328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ROSA柔性太阳翼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566928" y="3026664"/>
            <a:ext cx="1691640" cy="347472"/>
          </a:xfrm>
          <a:prstGeom prst="rect">
            <a:avLst/>
          </a:prstGeom>
          <a:solidFill>
            <a:srgbClr val="CDE0DC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03504" y="3063240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展开/驱动机构</a:t>
            </a:r>
            <a:endParaRPr lang="en-US" sz="840" dirty="0"/>
          </a:p>
        </p:txBody>
      </p:sp>
      <p:sp>
        <p:nvSpPr>
          <p:cNvPr id="32" name="Shape 30"/>
          <p:cNvSpPr/>
          <p:nvPr/>
        </p:nvSpPr>
        <p:spPr>
          <a:xfrm>
            <a:off x="2441448" y="3026664"/>
            <a:ext cx="1691640" cy="347472"/>
          </a:xfrm>
          <a:prstGeom prst="rect">
            <a:avLst/>
          </a:prstGeom>
          <a:solidFill>
            <a:srgbClr val="CDE0DC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2478024" y="3063240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锂离子电池组</a:t>
            </a:r>
            <a:endParaRPr lang="en-US" sz="840" dirty="0"/>
          </a:p>
        </p:txBody>
      </p:sp>
      <p:sp>
        <p:nvSpPr>
          <p:cNvPr id="34" name="Shape 32"/>
          <p:cNvSpPr/>
          <p:nvPr/>
        </p:nvSpPr>
        <p:spPr>
          <a:xfrm>
            <a:off x="4315968" y="3026664"/>
            <a:ext cx="1691640" cy="347472"/>
          </a:xfrm>
          <a:prstGeom prst="rect">
            <a:avLst/>
          </a:prstGeom>
          <a:solidFill>
            <a:srgbClr val="CDE0DC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4352544" y="3063240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电源控制器</a:t>
            </a:r>
            <a:endParaRPr lang="en-US" sz="840" dirty="0"/>
          </a:p>
        </p:txBody>
      </p:sp>
      <p:sp>
        <p:nvSpPr>
          <p:cNvPr id="36" name="Shape 34"/>
          <p:cNvSpPr/>
          <p:nvPr/>
        </p:nvSpPr>
        <p:spPr>
          <a:xfrm>
            <a:off x="566928" y="3465576"/>
            <a:ext cx="1691640" cy="347472"/>
          </a:xfrm>
          <a:prstGeom prst="rect">
            <a:avLst/>
          </a:prstGeom>
          <a:solidFill>
            <a:srgbClr val="F4F7F8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03504" y="3502152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整星电源系统方案</a:t>
            </a:r>
            <a:endParaRPr lang="en-US" sz="840" dirty="0"/>
          </a:p>
        </p:txBody>
      </p:sp>
      <p:sp>
        <p:nvSpPr>
          <p:cNvPr id="38" name="Shape 36"/>
          <p:cNvSpPr/>
          <p:nvPr/>
        </p:nvSpPr>
        <p:spPr>
          <a:xfrm>
            <a:off x="2441448" y="3465576"/>
            <a:ext cx="1691640" cy="347472"/>
          </a:xfrm>
          <a:prstGeom prst="rect">
            <a:avLst/>
          </a:prstGeom>
          <a:solidFill>
            <a:srgbClr val="F4F7F8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2478024" y="3502152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标准化单机产品</a:t>
            </a:r>
            <a:endParaRPr lang="en-US" sz="840" dirty="0"/>
          </a:p>
        </p:txBody>
      </p:sp>
      <p:sp>
        <p:nvSpPr>
          <p:cNvPr id="40" name="Shape 38"/>
          <p:cNvSpPr/>
          <p:nvPr/>
        </p:nvSpPr>
        <p:spPr>
          <a:xfrm>
            <a:off x="4315968" y="3465576"/>
            <a:ext cx="1691640" cy="347472"/>
          </a:xfrm>
          <a:prstGeom prst="rect">
            <a:avLst/>
          </a:prstGeom>
          <a:solidFill>
            <a:srgbClr val="F4F7F8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4352544" y="3502152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客户定制化集成</a:t>
            </a:r>
            <a:endParaRPr lang="en-US" sz="840" dirty="0"/>
          </a:p>
        </p:txBody>
      </p:sp>
      <p:sp>
        <p:nvSpPr>
          <p:cNvPr id="42" name="Shape 40"/>
          <p:cNvSpPr/>
          <p:nvPr/>
        </p:nvSpPr>
        <p:spPr>
          <a:xfrm>
            <a:off x="6446520" y="2331720"/>
            <a:ext cx="5074920" cy="1965960"/>
          </a:xfrm>
          <a:prstGeom prst="rect">
            <a:avLst/>
          </a:prstGeom>
          <a:solidFill>
            <a:srgbClr val="F5F2EE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6656832" y="2514600"/>
            <a:ext cx="12801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C2633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第三方验证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656832" y="2880360"/>
            <a:ext cx="452628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• 电科蓝天IPO审核材料将馥昶列为国内主要宇航电源供应商之一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• 材料将其归类为民营系统级配套商，提供整星电源系统方案和多类单机产品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• 该验证来自上市审核文件，强于单纯公司宣传口径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566928" y="4864608"/>
            <a:ext cx="10972800" cy="603504"/>
          </a:xfrm>
          <a:prstGeom prst="rect">
            <a:avLst/>
          </a:prstGeom>
          <a:solidFill>
            <a:srgbClr val="EAF1F4"/>
          </a:solidFill>
          <a:ln w="12700">
            <a:solidFill>
              <a:srgbClr val="EAF1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768096" y="5074920"/>
            <a:ext cx="105156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2D4453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Read-through：馥昶空间已完成技术与客户认证，下一阶段的关键是将flight heritage转化为大型星座批量订单、可见backlog和稳定盈利。</a:t>
            </a:r>
            <a:endParaRPr lang="en-US" sz="1040" dirty="0"/>
          </a:p>
        </p:txBody>
      </p:sp>
      <p:sp>
        <p:nvSpPr>
          <p:cNvPr id="47" name="Text 45"/>
          <p:cNvSpPr/>
          <p:nvPr/>
        </p:nvSpPr>
        <p:spPr>
          <a:xfrm>
            <a:off x="411480" y="6181344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850">
                <a:solidFill>
                  <a:srgbClr val="5B6D7D"/>
                </a:solidFill>
                <a:latin typeface="LF_Kai"/>
              </a:rPr>
              <a:t>资料来源：馥昶空间官网；电科蓝天IPO审核问询回复；PitchBook（Valuation Estimate页面，accessed Aug-2026）；正点财经《太空光伏行业深度》。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0" y="6483096"/>
            <a:ext cx="12191695" cy="374904"/>
          </a:xfrm>
          <a:prstGeom prst="rect">
            <a:avLst/>
          </a:prstGeom>
          <a:solidFill>
            <a:srgbClr val="2D4453"/>
          </a:solidFill>
          <a:ln w="12700">
            <a:solidFill>
              <a:srgbClr val="2D44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347472" y="65745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J.P. MORGAN  Natural Resources</a:t>
            </a:r>
            <a:endParaRPr lang="en-US" sz="880" dirty="0"/>
          </a:p>
        </p:txBody>
      </p:sp>
      <p:sp>
        <p:nvSpPr>
          <p:cNvPr id="50" name="Text 48"/>
          <p:cNvSpPr/>
          <p:nvPr/>
        </p:nvSpPr>
        <p:spPr>
          <a:xfrm>
            <a:off x="8732520" y="6574536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1292840" y="657453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FFFFFF"/>
                </a:solidFill>
                <a:latin typeface="Arial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200" b="1">
                <a:latin typeface="LF_Kai"/>
              </a:rPr>
              <a:t>Public comps：成熟宇航电源可实现较高毛利，商业星座仍处降本拐点</a:t>
            </a:r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84280" cy="0"/>
          </a:xfrm>
          <a:prstGeom prst="line">
            <a:avLst/>
          </a:prstGeom>
          <a:noFill/>
          <a:ln w="15240">
            <a:solidFill>
              <a:srgbClr val="2D44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11384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50" b="0">
                <a:latin typeface="LF_Kai"/>
              </a:rPr>
              <a:t>传统航天与商业航天的经济模型不同：32%毛利率代表宇航电源整体口径，而非纯商业星座供应商的短期水平。</a:t>
            </a:r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325880" cy="329184"/>
          </a:xfrm>
          <a:prstGeom prst="rect">
            <a:avLst/>
          </a:prstGeom>
          <a:solidFill>
            <a:srgbClr val="2D4453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39496" y="1133856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公司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828800" y="1097280"/>
            <a:ext cx="1965960" cy="329184"/>
          </a:xfrm>
          <a:prstGeom prst="rect">
            <a:avLst/>
          </a:prstGeom>
          <a:solidFill>
            <a:srgbClr val="2D4453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865376" y="1133856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业务定位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794760" y="1097280"/>
            <a:ext cx="1600200" cy="329184"/>
          </a:xfrm>
          <a:prstGeom prst="rect">
            <a:avLst/>
          </a:prstGeom>
          <a:solidFill>
            <a:srgbClr val="2D4453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831336" y="1133856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收入规模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394960" y="1097280"/>
            <a:ext cx="1143000" cy="329184"/>
          </a:xfrm>
          <a:prstGeom prst="rect">
            <a:avLst/>
          </a:prstGeom>
          <a:solidFill>
            <a:srgbClr val="2D4453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431536" y="1133856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增长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537960" y="1097280"/>
            <a:ext cx="1234440" cy="329184"/>
          </a:xfrm>
          <a:prstGeom prst="rect">
            <a:avLst/>
          </a:prstGeom>
          <a:solidFill>
            <a:srgbClr val="2D4453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574536" y="1133856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利润率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772400" y="1097280"/>
            <a:ext cx="2926080" cy="329184"/>
          </a:xfrm>
          <a:prstGeom prst="rect">
            <a:avLst/>
          </a:prstGeom>
          <a:solidFill>
            <a:srgbClr val="2D4453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808976" y="1133856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Read-through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1426464"/>
            <a:ext cx="1325880" cy="676656"/>
          </a:xfrm>
          <a:prstGeom prst="rect">
            <a:avLst/>
          </a:prstGeom>
          <a:solidFill>
            <a:srgbClr val="F4F7F8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39496" y="1463040"/>
            <a:ext cx="12527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电科蓝天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1828800" y="1426464"/>
            <a:ext cx="1965960" cy="676656"/>
          </a:xfrm>
          <a:prstGeom prst="rect">
            <a:avLst/>
          </a:prstGeom>
          <a:solidFill>
            <a:srgbClr val="F4F7F8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865376" y="1463040"/>
            <a:ext cx="1892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国内成熟宇航电源平台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3794760" y="1426464"/>
            <a:ext cx="1600200" cy="676656"/>
          </a:xfrm>
          <a:prstGeom prst="rect">
            <a:avLst/>
          </a:prstGeom>
          <a:solidFill>
            <a:srgbClr val="F4F7F8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3831336" y="1463040"/>
            <a:ext cx="1527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RMB 1.9bn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宇航电源收入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5394960" y="1426464"/>
            <a:ext cx="1143000" cy="676656"/>
          </a:xfrm>
          <a:prstGeom prst="rect">
            <a:avLst/>
          </a:prstGeom>
          <a:solidFill>
            <a:srgbClr val="F4F7F8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431536" y="1463040"/>
            <a:ext cx="1069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—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6537960" y="1426464"/>
            <a:ext cx="1234440" cy="676656"/>
          </a:xfrm>
          <a:prstGeom prst="rect">
            <a:avLst/>
          </a:prstGeom>
          <a:solidFill>
            <a:srgbClr val="F4F7F8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574536" y="1463040"/>
            <a:ext cx="1161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050" b="1">
                <a:latin typeface="LF_Kai"/>
              </a:rPr>
              <a:t>~32% GM</a:t>
            </a:r>
          </a:p>
          <a:p>
            <a:r>
              <a:rPr sz="1050" b="1">
                <a:latin typeface="LF_Kai"/>
              </a:rPr>
              <a:t>整体口径</a:t>
            </a:r>
          </a:p>
        </p:txBody>
      </p:sp>
      <p:sp>
        <p:nvSpPr>
          <p:cNvPr id="27" name="Shape 25"/>
          <p:cNvSpPr/>
          <p:nvPr/>
        </p:nvSpPr>
        <p:spPr>
          <a:xfrm>
            <a:off x="7772400" y="1426464"/>
            <a:ext cx="2926080" cy="676656"/>
          </a:xfrm>
          <a:prstGeom prst="rect">
            <a:avLst/>
          </a:prstGeom>
          <a:solidFill>
            <a:srgbClr val="F4F7F8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7808976" y="1463040"/>
            <a:ext cx="2852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950" b="0">
                <a:latin typeface="LF_Kai"/>
              </a:rPr>
              <a:t>成熟平台的长期参考；商业航天业务此前亏损，2024年已接近盈亏平衡</a:t>
            </a:r>
          </a:p>
        </p:txBody>
      </p:sp>
      <p:sp>
        <p:nvSpPr>
          <p:cNvPr id="29" name="Shape 27"/>
          <p:cNvSpPr/>
          <p:nvPr/>
        </p:nvSpPr>
        <p:spPr>
          <a:xfrm>
            <a:off x="502920" y="2103120"/>
            <a:ext cx="13258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539496" y="2139696"/>
            <a:ext cx="12527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Rocket Lab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Space Systems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1828800" y="2103120"/>
            <a:ext cx="19659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1865376" y="2139696"/>
            <a:ext cx="1892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空间系统/组件平台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3794760" y="2103120"/>
            <a:ext cx="16002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3831336" y="2139696"/>
            <a:ext cx="1527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US$403m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5394960" y="2103120"/>
            <a:ext cx="11430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5431536" y="2139696"/>
            <a:ext cx="1069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+30%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6537960" y="2103120"/>
            <a:ext cx="12344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6574536" y="2139696"/>
            <a:ext cx="1161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~30% GM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7772400" y="2103120"/>
            <a:ext cx="29260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7808976" y="2139696"/>
            <a:ext cx="2852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多产品平台可通过组件+系统形成规模化收入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502920" y="2779776"/>
            <a:ext cx="1325880" cy="676656"/>
          </a:xfrm>
          <a:prstGeom prst="rect">
            <a:avLst/>
          </a:prstGeom>
          <a:solidFill>
            <a:srgbClr val="F4F7F8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539496" y="2816352"/>
            <a:ext cx="12527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Redwire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1828800" y="2779776"/>
            <a:ext cx="1965960" cy="676656"/>
          </a:xfrm>
          <a:prstGeom prst="rect">
            <a:avLst/>
          </a:prstGeom>
          <a:solidFill>
            <a:srgbClr val="F4F7F8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1865376" y="2816352"/>
            <a:ext cx="1892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空间基础设施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3794760" y="2779776"/>
            <a:ext cx="1600200" cy="676656"/>
          </a:xfrm>
          <a:prstGeom prst="rect">
            <a:avLst/>
          </a:prstGeom>
          <a:solidFill>
            <a:srgbClr val="F4F7F8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3831336" y="2816352"/>
            <a:ext cx="1527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US$210m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5394960" y="2779776"/>
            <a:ext cx="1143000" cy="676656"/>
          </a:xfrm>
          <a:prstGeom prst="rect">
            <a:avLst/>
          </a:prstGeom>
          <a:solidFill>
            <a:srgbClr val="F4F7F8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5431536" y="2816352"/>
            <a:ext cx="1069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-18%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6537960" y="2779776"/>
            <a:ext cx="1234440" cy="676656"/>
          </a:xfrm>
          <a:prstGeom prst="rect">
            <a:avLst/>
          </a:prstGeom>
          <a:solidFill>
            <a:srgbClr val="F4F7F8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6574536" y="2816352"/>
            <a:ext cx="1161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亏损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7772400" y="2779776"/>
            <a:ext cx="2926080" cy="676656"/>
          </a:xfrm>
          <a:prstGeom prst="rect">
            <a:avLst/>
          </a:prstGeom>
          <a:solidFill>
            <a:srgbClr val="F4F7F8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7808976" y="2816352"/>
            <a:ext cx="2852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固定价格合同和项目执行风险会显著侵蚀利润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502920" y="3456432"/>
            <a:ext cx="13258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539496" y="3493008"/>
            <a:ext cx="12527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馥昶空间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1828800" y="3456432"/>
            <a:ext cx="19659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1865376" y="3493008"/>
            <a:ext cx="1892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民营卫星电源系统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3794760" y="3456432"/>
            <a:ext cx="16002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3831336" y="3493008"/>
            <a:ext cx="1527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RMB 58m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2023A</a:t>
            </a:r>
            <a:endParaRPr lang="en-US" sz="780" dirty="0"/>
          </a:p>
        </p:txBody>
      </p:sp>
      <p:sp>
        <p:nvSpPr>
          <p:cNvPr id="59" name="Shape 57"/>
          <p:cNvSpPr/>
          <p:nvPr/>
        </p:nvSpPr>
        <p:spPr>
          <a:xfrm>
            <a:off x="5394960" y="3456432"/>
            <a:ext cx="11430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5431536" y="3493008"/>
            <a:ext cx="1069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—</a:t>
            </a:r>
            <a:endParaRPr lang="en-US" sz="780" dirty="0"/>
          </a:p>
        </p:txBody>
      </p:sp>
      <p:sp>
        <p:nvSpPr>
          <p:cNvPr id="61" name="Shape 59"/>
          <p:cNvSpPr/>
          <p:nvPr/>
        </p:nvSpPr>
        <p:spPr>
          <a:xfrm>
            <a:off x="6537960" y="3456432"/>
            <a:ext cx="12344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6574536" y="3493008"/>
            <a:ext cx="1161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~22%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净利率</a:t>
            </a:r>
            <a:endParaRPr lang="en-US" sz="780" dirty="0"/>
          </a:p>
        </p:txBody>
      </p:sp>
      <p:sp>
        <p:nvSpPr>
          <p:cNvPr id="63" name="Shape 61"/>
          <p:cNvSpPr/>
          <p:nvPr/>
        </p:nvSpPr>
        <p:spPr>
          <a:xfrm>
            <a:off x="7772400" y="3456432"/>
            <a:ext cx="29260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7808976" y="3493008"/>
            <a:ext cx="28529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950" b="0">
                <a:latin typeface="LF_Kai"/>
              </a:rPr>
              <a:t>已完成产品验证；下一阶段需证明批量订单下的可重复毛利与现金流</a:t>
            </a:r>
          </a:p>
        </p:txBody>
      </p:sp>
      <p:sp>
        <p:nvSpPr>
          <p:cNvPr id="65" name="Text 63"/>
          <p:cNvSpPr/>
          <p:nvPr/>
        </p:nvSpPr>
        <p:spPr>
          <a:xfrm>
            <a:off x="566928" y="4572000"/>
            <a:ext cx="20116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IPO-readiness KPI</a:t>
            </a:r>
            <a:endParaRPr lang="en-US" sz="1120" dirty="0"/>
          </a:p>
        </p:txBody>
      </p:sp>
      <p:sp>
        <p:nvSpPr>
          <p:cNvPr id="66" name="Shape 64"/>
          <p:cNvSpPr/>
          <p:nvPr/>
        </p:nvSpPr>
        <p:spPr>
          <a:xfrm>
            <a:off x="566928" y="4919472"/>
            <a:ext cx="2468880" cy="274320"/>
          </a:xfrm>
          <a:prstGeom prst="rect">
            <a:avLst/>
          </a:prstGeom>
          <a:solidFill>
            <a:srgbClr val="DCE8EE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Text 65"/>
          <p:cNvSpPr/>
          <p:nvPr/>
        </p:nvSpPr>
        <p:spPr>
          <a:xfrm>
            <a:off x="603504" y="495604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收入增长</a:t>
            </a:r>
            <a:endParaRPr lang="en-US" sz="860" dirty="0"/>
          </a:p>
        </p:txBody>
      </p:sp>
      <p:sp>
        <p:nvSpPr>
          <p:cNvPr id="68" name="Shape 66"/>
          <p:cNvSpPr/>
          <p:nvPr/>
        </p:nvSpPr>
        <p:spPr>
          <a:xfrm>
            <a:off x="3264408" y="4919472"/>
            <a:ext cx="2468880" cy="274320"/>
          </a:xfrm>
          <a:prstGeom prst="rect">
            <a:avLst/>
          </a:prstGeom>
          <a:solidFill>
            <a:srgbClr val="DCE8EE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Text 67"/>
          <p:cNvSpPr/>
          <p:nvPr/>
        </p:nvSpPr>
        <p:spPr>
          <a:xfrm>
            <a:off x="3300984" y="495604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Backlog / Revenue</a:t>
            </a:r>
            <a:endParaRPr lang="en-US" sz="860" dirty="0"/>
          </a:p>
        </p:txBody>
      </p:sp>
      <p:sp>
        <p:nvSpPr>
          <p:cNvPr id="70" name="Shape 68"/>
          <p:cNvSpPr/>
          <p:nvPr/>
        </p:nvSpPr>
        <p:spPr>
          <a:xfrm>
            <a:off x="5961888" y="4919472"/>
            <a:ext cx="2468880" cy="274320"/>
          </a:xfrm>
          <a:prstGeom prst="rect">
            <a:avLst/>
          </a:prstGeom>
          <a:solidFill>
            <a:srgbClr val="DCE8EE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Text 69"/>
          <p:cNvSpPr/>
          <p:nvPr/>
        </p:nvSpPr>
        <p:spPr>
          <a:xfrm>
            <a:off x="5998464" y="495604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系统ASP</a:t>
            </a:r>
            <a:endParaRPr lang="en-US" sz="860" dirty="0"/>
          </a:p>
        </p:txBody>
      </p:sp>
      <p:sp>
        <p:nvSpPr>
          <p:cNvPr id="72" name="Shape 70"/>
          <p:cNvSpPr/>
          <p:nvPr/>
        </p:nvSpPr>
        <p:spPr>
          <a:xfrm>
            <a:off x="8659368" y="4919472"/>
            <a:ext cx="2468880" cy="274320"/>
          </a:xfrm>
          <a:prstGeom prst="rect">
            <a:avLst/>
          </a:prstGeom>
          <a:solidFill>
            <a:srgbClr val="DCE8EE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Text 71"/>
          <p:cNvSpPr/>
          <p:nvPr/>
        </p:nvSpPr>
        <p:spPr>
          <a:xfrm>
            <a:off x="8695944" y="495604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毛利率</a:t>
            </a:r>
            <a:endParaRPr lang="en-US" sz="860" dirty="0"/>
          </a:p>
        </p:txBody>
      </p:sp>
      <p:sp>
        <p:nvSpPr>
          <p:cNvPr id="74" name="Shape 72"/>
          <p:cNvSpPr/>
          <p:nvPr/>
        </p:nvSpPr>
        <p:spPr>
          <a:xfrm>
            <a:off x="566928" y="5303520"/>
            <a:ext cx="2468880" cy="274320"/>
          </a:xfrm>
          <a:prstGeom prst="rect">
            <a:avLst/>
          </a:prstGeom>
          <a:solidFill>
            <a:srgbClr val="CDE0DC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Text 73"/>
          <p:cNvSpPr/>
          <p:nvPr/>
        </p:nvSpPr>
        <p:spPr>
          <a:xfrm>
            <a:off x="603504" y="5340096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客户集中度</a:t>
            </a:r>
            <a:endParaRPr lang="en-US" sz="860" dirty="0"/>
          </a:p>
        </p:txBody>
      </p:sp>
      <p:sp>
        <p:nvSpPr>
          <p:cNvPr id="76" name="Shape 74"/>
          <p:cNvSpPr/>
          <p:nvPr/>
        </p:nvSpPr>
        <p:spPr>
          <a:xfrm>
            <a:off x="3264408" y="5303520"/>
            <a:ext cx="2468880" cy="274320"/>
          </a:xfrm>
          <a:prstGeom prst="rect">
            <a:avLst/>
          </a:prstGeom>
          <a:solidFill>
            <a:srgbClr val="CDE0DC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Text 75"/>
          <p:cNvSpPr/>
          <p:nvPr/>
        </p:nvSpPr>
        <p:spPr>
          <a:xfrm>
            <a:off x="3300984" y="5340096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现金流</a:t>
            </a:r>
            <a:endParaRPr lang="en-US" sz="860" dirty="0"/>
          </a:p>
        </p:txBody>
      </p:sp>
      <p:sp>
        <p:nvSpPr>
          <p:cNvPr id="78" name="Shape 76"/>
          <p:cNvSpPr/>
          <p:nvPr/>
        </p:nvSpPr>
        <p:spPr>
          <a:xfrm>
            <a:off x="5961888" y="5303520"/>
            <a:ext cx="2468880" cy="274320"/>
          </a:xfrm>
          <a:prstGeom prst="rect">
            <a:avLst/>
          </a:prstGeom>
          <a:solidFill>
            <a:srgbClr val="CDE0DC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" name="Text 77"/>
          <p:cNvSpPr/>
          <p:nvPr/>
        </p:nvSpPr>
        <p:spPr>
          <a:xfrm>
            <a:off x="5998464" y="5340096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研发投入</a:t>
            </a:r>
            <a:endParaRPr lang="en-US" sz="860" dirty="0"/>
          </a:p>
        </p:txBody>
      </p:sp>
      <p:sp>
        <p:nvSpPr>
          <p:cNvPr id="80" name="Shape 78"/>
          <p:cNvSpPr/>
          <p:nvPr/>
        </p:nvSpPr>
        <p:spPr>
          <a:xfrm>
            <a:off x="8659368" y="5303520"/>
            <a:ext cx="2468880" cy="274320"/>
          </a:xfrm>
          <a:prstGeom prst="rect">
            <a:avLst/>
          </a:prstGeom>
          <a:solidFill>
            <a:srgbClr val="CDE0DC"/>
          </a:solidFill>
          <a:ln w="6350">
            <a:solidFill>
              <a:srgbClr val="D8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Text 79"/>
          <p:cNvSpPr/>
          <p:nvPr/>
        </p:nvSpPr>
        <p:spPr>
          <a:xfrm>
            <a:off x="8695944" y="5340096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海外客户</a:t>
            </a:r>
            <a:endParaRPr lang="en-US" sz="860" dirty="0"/>
          </a:p>
        </p:txBody>
      </p:sp>
      <p:sp>
        <p:nvSpPr>
          <p:cNvPr id="82" name="Text 80"/>
          <p:cNvSpPr/>
          <p:nvPr/>
        </p:nvSpPr>
        <p:spPr>
          <a:xfrm>
            <a:off x="411480" y="6181344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850" b="0">
                <a:latin typeface="LF_Kai"/>
              </a:rPr>
              <a:t>资料来源：电科蓝天IPO审核问询回复/2024A；Rocket Lab 2025 Form 10-K；Redwire 2025 Form 10-K；宏力达关联交易公告。</a:t>
            </a:r>
          </a:p>
        </p:txBody>
      </p:sp>
      <p:sp>
        <p:nvSpPr>
          <p:cNvPr id="83" name="Shape 81"/>
          <p:cNvSpPr/>
          <p:nvPr/>
        </p:nvSpPr>
        <p:spPr>
          <a:xfrm>
            <a:off x="0" y="6483096"/>
            <a:ext cx="12191695" cy="374904"/>
          </a:xfrm>
          <a:prstGeom prst="rect">
            <a:avLst/>
          </a:prstGeom>
          <a:solidFill>
            <a:srgbClr val="2D4453"/>
          </a:solidFill>
          <a:ln w="12700">
            <a:solidFill>
              <a:srgbClr val="2D44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Text 82"/>
          <p:cNvSpPr/>
          <p:nvPr/>
        </p:nvSpPr>
        <p:spPr>
          <a:xfrm>
            <a:off x="347472" y="65745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J.P. MORGAN  Natural Resources</a:t>
            </a:r>
            <a:endParaRPr lang="en-US" sz="880" dirty="0"/>
          </a:p>
        </p:txBody>
      </p:sp>
      <p:sp>
        <p:nvSpPr>
          <p:cNvPr id="85" name="Text 83"/>
          <p:cNvSpPr/>
          <p:nvPr/>
        </p:nvSpPr>
        <p:spPr>
          <a:xfrm>
            <a:off x="8732520" y="6574536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11292840" y="657453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FFFFFF"/>
                </a:solidFill>
                <a:latin typeface="Arial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6343D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JPM机会：战略融资切入，长期推动香港IPO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84280" cy="0"/>
          </a:xfrm>
          <a:prstGeom prst="line">
            <a:avLst/>
          </a:prstGeom>
          <a:noFill/>
          <a:ln w="15240">
            <a:solidFill>
              <a:srgbClr val="2D44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11384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4727A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馥昶目前不是近期IPO-ready客户；机会在于资本市场关系尚未锁定时低成本建立option。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868680" y="5687568"/>
            <a:ext cx="1037844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最终结论：以太空光伏为切入口，JPM可提前覆盖一个已完成在轨验证、尚未锁定资本市场关系的民营系统级供应商。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11480" y="6181344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27A"/>
                </a:solidFill>
                <a:latin typeface="LF_Kai" pitchFamily="34" charset="0"/>
                <a:ea typeface="LF_Kai" pitchFamily="34" charset="-122"/>
                <a:cs typeface="LF_Kai" pitchFamily="34" charset="-120"/>
              </a:rPr>
              <a:t>资料来源：公司融资新闻，馥昶空间官网，香港资本市场规则及JPM内部判断。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0" y="6483096"/>
            <a:ext cx="12191695" cy="374904"/>
          </a:xfrm>
          <a:prstGeom prst="rect">
            <a:avLst/>
          </a:prstGeom>
          <a:solidFill>
            <a:srgbClr val="2D4453"/>
          </a:solidFill>
          <a:ln w="12700">
            <a:solidFill>
              <a:srgbClr val="2D44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347472" y="65745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J.P. MORGAN  Natural Resources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8732520" y="6574536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&amp; CONFIDENTIAL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292840" y="657453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FFFFFF"/>
                </a:solidFill>
                <a:latin typeface="Arial"/>
              </a:rPr>
              <a:t>10</a:t>
            </a:r>
            <a:endParaRPr lang="en-US" sz="800" dirty="0"/>
          </a:p>
        </p:txBody>
      </p:sp>
      <p:sp>
        <p:nvSpPr>
          <p:cNvPr id="33" name="Rectangle 32"/>
          <p:cNvSpPr/>
          <p:nvPr/>
        </p:nvSpPr>
        <p:spPr>
          <a:xfrm>
            <a:off x="502920" y="1143000"/>
            <a:ext cx="3337560" cy="384048"/>
          </a:xfrm>
          <a:prstGeom prst="rect">
            <a:avLst/>
          </a:prstGeom>
          <a:solidFill>
            <a:srgbClr val="8097A5"/>
          </a:solidFill>
          <a:ln>
            <a:solidFill>
              <a:srgbClr val="809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2648" y="1207008"/>
            <a:ext cx="71323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0–2年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1202436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LF_Kai"/>
              </a:rPr>
              <a:t>关系建立＋战略融资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1527048"/>
            <a:ext cx="3337560" cy="1234440"/>
          </a:xfrm>
          <a:prstGeom prst="rect">
            <a:avLst/>
          </a:prstGeom>
          <a:solidFill>
            <a:srgbClr val="F5F8F9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22376" y="1755648"/>
            <a:ext cx="2898648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80" b="0">
                <a:solidFill>
                  <a:srgbClr val="232C32"/>
                </a:solidFill>
                <a:latin typeface="LF_Kai"/>
              </a:rPr>
              <a:t>• 下一轮私募融资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" y="2066544"/>
            <a:ext cx="2898648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80" b="0">
                <a:solidFill>
                  <a:srgbClr val="232C32"/>
                </a:solidFill>
                <a:latin typeface="LF_Kai"/>
              </a:rPr>
              <a:t>• 产业/主权/国际战略投资人引介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" y="2377440"/>
            <a:ext cx="2898648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80" b="0">
                <a:solidFill>
                  <a:srgbClr val="232C32"/>
                </a:solidFill>
                <a:latin typeface="LF_Kai"/>
              </a:rPr>
              <a:t>• 治理、财务及资本市场故事准备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3886200" y="1929384"/>
            <a:ext cx="228600" cy="201168"/>
          </a:xfrm>
          <a:prstGeom prst="rightArrow">
            <a:avLst/>
          </a:prstGeom>
          <a:solidFill>
            <a:srgbClr val="80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160520" y="1143000"/>
            <a:ext cx="3337560" cy="384048"/>
          </a:xfrm>
          <a:prstGeom prst="rect">
            <a:avLst/>
          </a:prstGeom>
          <a:solidFill>
            <a:srgbClr val="6D9F95"/>
          </a:solidFill>
          <a:ln>
            <a:solidFill>
              <a:srgbClr val="6D9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270248" y="1207008"/>
            <a:ext cx="71323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2–4年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74920" y="1202436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LF_Kai"/>
              </a:rPr>
              <a:t>订单放量＋IPO准备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60520" y="1527048"/>
            <a:ext cx="3337560" cy="1234440"/>
          </a:xfrm>
          <a:prstGeom prst="rect">
            <a:avLst/>
          </a:prstGeom>
          <a:solidFill>
            <a:srgbClr val="F5F8F9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79976" y="1755648"/>
            <a:ext cx="2898648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80" b="0">
                <a:solidFill>
                  <a:srgbClr val="232C32"/>
                </a:solidFill>
                <a:latin typeface="LF_Kai"/>
              </a:rPr>
              <a:t>• 大型星座批量订单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79976" y="2066544"/>
            <a:ext cx="2898648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80" b="0">
                <a:solidFill>
                  <a:srgbClr val="232C32"/>
                </a:solidFill>
                <a:latin typeface="LF_Kai"/>
              </a:rPr>
              <a:t>• 收入与backlog规模化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79976" y="2377440"/>
            <a:ext cx="2898648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80" b="0">
                <a:solidFill>
                  <a:srgbClr val="232C32"/>
                </a:solidFill>
                <a:latin typeface="LF_Kai"/>
              </a:rPr>
              <a:t>• 连续审计财务和治理体系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7543800" y="1929384"/>
            <a:ext cx="228600" cy="201168"/>
          </a:xfrm>
          <a:prstGeom prst="rightArrow">
            <a:avLst/>
          </a:prstGeom>
          <a:solidFill>
            <a:srgbClr val="80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818120" y="1143000"/>
            <a:ext cx="3337560" cy="384048"/>
          </a:xfrm>
          <a:prstGeom prst="rect">
            <a:avLst/>
          </a:prstGeom>
          <a:solidFill>
            <a:srgbClr val="9B2331"/>
          </a:solidFill>
          <a:ln>
            <a:solidFill>
              <a:srgbClr val="9B23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927848" y="1207008"/>
            <a:ext cx="71323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3–5年+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32520" y="1202436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LF_Kai"/>
              </a:rPr>
              <a:t>香港IPO＋长期产品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18120" y="1527048"/>
            <a:ext cx="3337560" cy="1234440"/>
          </a:xfrm>
          <a:prstGeom prst="rect">
            <a:avLst/>
          </a:prstGeom>
          <a:solidFill>
            <a:srgbClr val="F9F2F4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037576" y="1755648"/>
            <a:ext cx="2898648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80" b="0">
                <a:solidFill>
                  <a:srgbClr val="232C32"/>
                </a:solidFill>
                <a:latin typeface="LF_Kai"/>
              </a:rPr>
              <a:t>• 香港IPO / 国际配售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37576" y="2066544"/>
            <a:ext cx="2898648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80" b="0">
                <a:solidFill>
                  <a:srgbClr val="232C32"/>
                </a:solidFill>
                <a:latin typeface="LF_Kai"/>
              </a:rPr>
              <a:t>• Cornerstone投资者引入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37576" y="2377440"/>
            <a:ext cx="2898648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80" b="0">
                <a:solidFill>
                  <a:srgbClr val="232C32"/>
                </a:solidFill>
                <a:latin typeface="LF_Kai"/>
              </a:rPr>
              <a:t>• 后续配售、可转债、跨境并购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3246120"/>
            <a:ext cx="33375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9B2331"/>
                </a:solidFill>
                <a:latin typeface="LF_Kai"/>
              </a:rPr>
              <a:t>为什么香港IPO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3593592"/>
            <a:ext cx="3337560" cy="1417320"/>
          </a:xfrm>
          <a:prstGeom prst="rect">
            <a:avLst/>
          </a:prstGeom>
          <a:solidFill>
            <a:srgbClr val="F7F9FB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67512" y="3776472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30" b="0">
                <a:solidFill>
                  <a:srgbClr val="232C32"/>
                </a:solidFill>
                <a:latin typeface="LF_Kai"/>
              </a:rPr>
              <a:t>• 接触全球航天、科技与主权投资者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7512" y="4059936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30" b="0">
                <a:solidFill>
                  <a:srgbClr val="232C32"/>
                </a:solidFill>
                <a:latin typeface="LF_Kai"/>
              </a:rPr>
              <a:t>• 支持海外商业航天客户拓展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7512" y="434340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30" b="0">
                <a:solidFill>
                  <a:srgbClr val="232C32"/>
                </a:solidFill>
                <a:latin typeface="LF_Kai"/>
              </a:rPr>
              <a:t>• 为潜在跨境合作/并购提供上市货币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7512" y="4626864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30" b="0">
                <a:solidFill>
                  <a:srgbClr val="232C32"/>
                </a:solidFill>
                <a:latin typeface="LF_Kai"/>
              </a:rPr>
              <a:t>• 建立商业航天独立估值框架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60520" y="3246120"/>
            <a:ext cx="33375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9B2331"/>
                </a:solidFill>
                <a:latin typeface="LF_Kai"/>
              </a:rPr>
              <a:t>JPM角色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60520" y="3593592"/>
            <a:ext cx="3337560" cy="1417320"/>
          </a:xfrm>
          <a:prstGeom prst="rect">
            <a:avLst/>
          </a:prstGeom>
          <a:solidFill>
            <a:srgbClr val="F7F9FB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325112" y="3776472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30" b="0">
                <a:solidFill>
                  <a:srgbClr val="232C32"/>
                </a:solidFill>
                <a:latin typeface="LF_Kai"/>
              </a:rPr>
              <a:t>• 近期：relationship building + strategic private placement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25112" y="4059936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30" b="0">
                <a:solidFill>
                  <a:srgbClr val="232C32"/>
                </a:solidFill>
                <a:latin typeface="LF_Kai"/>
              </a:rPr>
              <a:t>• 中期：IPO readiness、投资人教育、跨境产业合作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25112" y="434340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30" b="0">
                <a:solidFill>
                  <a:srgbClr val="232C32"/>
                </a:solidFill>
                <a:latin typeface="LF_Kai"/>
              </a:rPr>
              <a:t>• 长期：Sponsor/JGC、cornerstone引入、后续融资和M&amp;A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18120" y="3246120"/>
            <a:ext cx="33375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9B2331"/>
                </a:solidFill>
                <a:latin typeface="LF_Kai"/>
              </a:rPr>
              <a:t>升级覆盖触发条件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18120" y="3593592"/>
            <a:ext cx="3337560" cy="1417320"/>
          </a:xfrm>
          <a:prstGeom prst="rect">
            <a:avLst/>
          </a:prstGeom>
          <a:solidFill>
            <a:srgbClr val="F7F9FB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982712" y="3776472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30" b="0">
                <a:solidFill>
                  <a:srgbClr val="232C32"/>
                </a:solidFill>
                <a:latin typeface="LF_Kai"/>
              </a:rPr>
              <a:t>• 大型星座订单和可见backlog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982712" y="4059936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30" b="0">
                <a:solidFill>
                  <a:srgbClr val="232C32"/>
                </a:solidFill>
                <a:latin typeface="LF_Kai"/>
              </a:rPr>
              <a:t>• 收入规模化与稳定正毛利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82712" y="434340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30" b="0">
                <a:solidFill>
                  <a:srgbClr val="232C32"/>
                </a:solidFill>
                <a:latin typeface="LF_Kai"/>
              </a:rPr>
              <a:t>• 连续审计财务与治理体系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82712" y="4626864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30" b="0">
                <a:solidFill>
                  <a:srgbClr val="232C32"/>
                </a:solidFill>
                <a:latin typeface="LF_Kai"/>
              </a:rPr>
              <a:t>• 海外客户/战略投资人需求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02920" y="5074920"/>
            <a:ext cx="10287000" cy="411480"/>
          </a:xfrm>
          <a:prstGeom prst="roundRect">
            <a:avLst/>
          </a:prstGeom>
          <a:solidFill>
            <a:srgbClr val="F6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13232" y="5175504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232C32"/>
                </a:solidFill>
                <a:latin typeface="LF_Kai"/>
              </a:rPr>
              <a:t>最终结论：以太空光伏为切入口，JPM可提前覆盖已完成在轨验证、尚未锁定资本市场关系的民营系统级供应商。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1480" y="5650992"/>
            <a:ext cx="1051560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5B6D7D"/>
                </a:solidFill>
                <a:latin typeface="LF_Kai"/>
              </a:rPr>
              <a:t>资料来源：公司融资新闻，馥昶空间官网，香港资本市场规则及JPM内部判断。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F_Ka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F_K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1717</Words>
  <Application>Microsoft Office PowerPoint</Application>
  <PresentationFormat>Widescreen</PresentationFormat>
  <Paragraphs>474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LF_Kai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J.P. Morgan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太空光伏与卫星电源系统 — 馥昶空间</dc:title>
  <dc:subject>太空光伏与卫星电源系统</dc:subject>
  <dc:creator>OpenAI</dc:creator>
  <cp:lastModifiedBy>Patrick Pei</cp:lastModifiedBy>
  <cp:revision>1</cp:revision>
  <dcterms:created xsi:type="dcterms:W3CDTF">2026-08-04T09:20:12Z</dcterms:created>
  <dcterms:modified xsi:type="dcterms:W3CDTF">2026-08-04T12:09:13Z</dcterms:modified>
</cp:coreProperties>
</file>